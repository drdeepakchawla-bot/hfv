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60" r:id="rId4"/>
    <p:sldId id="259" r:id="rId5"/>
    <p:sldId id="262" r:id="rId6"/>
    <p:sldId id="261" r:id="rId7"/>
    <p:sldId id="264" r:id="rId8"/>
    <p:sldId id="266" r:id="rId9"/>
    <p:sldId id="270" r:id="rId10"/>
    <p:sldId id="269" r:id="rId11"/>
    <p:sldId id="272" r:id="rId12"/>
    <p:sldId id="273" r:id="rId13"/>
    <p:sldId id="307" r:id="rId14"/>
    <p:sldId id="271" r:id="rId15"/>
    <p:sldId id="276" r:id="rId16"/>
    <p:sldId id="305" r:id="rId17"/>
    <p:sldId id="275" r:id="rId18"/>
    <p:sldId id="277" r:id="rId19"/>
    <p:sldId id="278" r:id="rId20"/>
    <p:sldId id="280" r:id="rId21"/>
    <p:sldId id="308" r:id="rId22"/>
    <p:sldId id="281" r:id="rId23"/>
    <p:sldId id="282" r:id="rId24"/>
    <p:sldId id="283" r:id="rId25"/>
    <p:sldId id="284" r:id="rId26"/>
    <p:sldId id="285" r:id="rId27"/>
    <p:sldId id="30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2" r:id="rId43"/>
    <p:sldId id="303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7490"/>
    <a:srgbClr val="1D9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730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CCF7-A4E4-D336-8A2D-0C6E5C95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5A11F-72C8-846C-B532-9CAF53C85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142BD-90DC-A2C2-E4FA-52EF1A3D1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70286-CA55-2152-7DC4-ADE8562718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40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96971-56CB-214A-DDB1-349EA52A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E3E46-0E26-68A5-BCE0-89D947626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9F225-0951-19EA-15D8-19358E75B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72F10-F9E6-78CD-FA24-4ADBFD0CFF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80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D7E2-F4C0-2F83-0B3E-786B6D4F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02757-F749-D144-0510-A948398B7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A6B94-E8E1-A92E-E005-F3CAEF9C3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F64F-3631-C5E0-7A7C-14A73E427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801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24B3-1B71-6B60-21DA-10462027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98FBE-4710-3E32-A12B-60AFE4597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343FC-41AA-2BAC-3AE5-7528AE6C4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35F05-B717-9C40-A9E0-3CB469FA2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589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Documents/Claude/Projects/HFV/hfv-piston-oscillator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Documents/Claude/Projects/HFV/HFV_gas_exchange_mechanisms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Documents/Claude/Projects/HFV/HFV_pressure_transmission_simulator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hp\Documents\Claude\Projects\HFV\hfv-tidal-volume-simulator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3504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3794760"/>
            <a:ext cx="29260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F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Deepak Chawla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131931-A0A2-A9CD-4239-49DD3D5B45ED}"/>
              </a:ext>
            </a:extLst>
          </p:cNvPr>
          <p:cNvGrpSpPr/>
          <p:nvPr/>
        </p:nvGrpSpPr>
        <p:grpSpPr>
          <a:xfrm>
            <a:off x="502920" y="1417320"/>
            <a:ext cx="3977640" cy="1325880"/>
            <a:chOff x="502920" y="1417320"/>
            <a:chExt cx="3977640" cy="1325880"/>
          </a:xfrm>
        </p:grpSpPr>
        <p:sp>
          <p:nvSpPr>
            <p:cNvPr id="7" name="Shape 5"/>
            <p:cNvSpPr/>
            <p:nvPr/>
          </p:nvSpPr>
          <p:spPr>
            <a:xfrm>
              <a:off x="502920" y="1417320"/>
              <a:ext cx="3977640" cy="132588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1417320"/>
              <a:ext cx="64008" cy="1325880"/>
            </a:xfrm>
            <a:prstGeom prst="rect">
              <a:avLst/>
            </a:prstGeom>
            <a:solidFill>
              <a:srgbClr val="1D9E75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9" name="Text 7"/>
            <p:cNvSpPr/>
            <p:nvPr/>
          </p:nvSpPr>
          <p:spPr>
            <a:xfrm>
              <a:off x="649224" y="1508760"/>
              <a:ext cx="3703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1 - Gas exchange during HFV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9224" y="1874520"/>
              <a:ext cx="37033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Describe how gas is exchanged when tidal volume is at or below dead space</a:t>
              </a:r>
              <a:endParaRPr lang="en-US" sz="14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F8F9D4-4D24-ABC9-B4A2-3A3FB71CB5F6}"/>
              </a:ext>
            </a:extLst>
          </p:cNvPr>
          <p:cNvGrpSpPr/>
          <p:nvPr/>
        </p:nvGrpSpPr>
        <p:grpSpPr>
          <a:xfrm>
            <a:off x="4709160" y="1417320"/>
            <a:ext cx="3977640" cy="1325880"/>
            <a:chOff x="4709160" y="1417320"/>
            <a:chExt cx="3977640" cy="1325880"/>
          </a:xfrm>
        </p:grpSpPr>
        <p:sp>
          <p:nvSpPr>
            <p:cNvPr id="11" name="Shape 9"/>
            <p:cNvSpPr/>
            <p:nvPr/>
          </p:nvSpPr>
          <p:spPr>
            <a:xfrm>
              <a:off x="4709160" y="1417320"/>
              <a:ext cx="3977640" cy="132588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09160" y="1417320"/>
              <a:ext cx="64008" cy="1325880"/>
            </a:xfrm>
            <a:prstGeom prst="rect">
              <a:avLst/>
            </a:prstGeom>
            <a:solidFill>
              <a:srgbClr val="185FA5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3" name="Text 11"/>
            <p:cNvSpPr/>
            <p:nvPr/>
          </p:nvSpPr>
          <p:spPr>
            <a:xfrm>
              <a:off x="4855464" y="1508760"/>
              <a:ext cx="3703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– Lung dynamics during HFV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855464" y="1874520"/>
              <a:ext cx="37033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impedance, resonant and corner frequency to predict how much oscillatory pressure reaches the alveolus.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78D504-5191-ACD0-D75B-63769D0F0BF8}"/>
              </a:ext>
            </a:extLst>
          </p:cNvPr>
          <p:cNvGrpSpPr/>
          <p:nvPr/>
        </p:nvGrpSpPr>
        <p:grpSpPr>
          <a:xfrm>
            <a:off x="502920" y="2971800"/>
            <a:ext cx="3977640" cy="1325880"/>
            <a:chOff x="502920" y="2971800"/>
            <a:chExt cx="3977640" cy="1325880"/>
          </a:xfrm>
        </p:grpSpPr>
        <p:sp>
          <p:nvSpPr>
            <p:cNvPr id="15" name="Shape 13"/>
            <p:cNvSpPr/>
            <p:nvPr/>
          </p:nvSpPr>
          <p:spPr>
            <a:xfrm>
              <a:off x="502920" y="2971800"/>
              <a:ext cx="3977640" cy="132588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6" name="Shape 14"/>
            <p:cNvSpPr/>
            <p:nvPr/>
          </p:nvSpPr>
          <p:spPr>
            <a:xfrm>
              <a:off x="502920" y="2971800"/>
              <a:ext cx="64008" cy="1325880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7" name="Text 15"/>
            <p:cNvSpPr/>
            <p:nvPr/>
          </p:nvSpPr>
          <p:spPr>
            <a:xfrm>
              <a:off x="649224" y="3063240"/>
              <a:ext cx="3703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3 - Setting the ventilator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49224" y="3429000"/>
              <a:ext cx="37033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Choose MAP, amplitude and frequency rationally; target DCO</a:t>
              </a:r>
              <a:r>
                <a:rPr lang="en-US" sz="14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for a safe PaCO</a:t>
              </a:r>
              <a:r>
                <a:rPr lang="en-US" sz="14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; use volume guarantee with HFV.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3ADB88-BE73-48A6-C0DC-028D1024A828}"/>
              </a:ext>
            </a:extLst>
          </p:cNvPr>
          <p:cNvGrpSpPr/>
          <p:nvPr/>
        </p:nvGrpSpPr>
        <p:grpSpPr>
          <a:xfrm>
            <a:off x="4709160" y="2971800"/>
            <a:ext cx="3977640" cy="1325880"/>
            <a:chOff x="4709160" y="2971800"/>
            <a:chExt cx="3977640" cy="1325880"/>
          </a:xfrm>
        </p:grpSpPr>
        <p:sp>
          <p:nvSpPr>
            <p:cNvPr id="19" name="Shape 17"/>
            <p:cNvSpPr/>
            <p:nvPr/>
          </p:nvSpPr>
          <p:spPr>
            <a:xfrm>
              <a:off x="4709160" y="2971800"/>
              <a:ext cx="3977640" cy="132588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09160" y="2971800"/>
              <a:ext cx="64008" cy="132588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21" name="Text 19"/>
            <p:cNvSpPr/>
            <p:nvPr/>
          </p:nvSpPr>
          <p:spPr>
            <a:xfrm>
              <a:off x="4855464" y="3063240"/>
              <a:ext cx="3703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4 - Application at the bedside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855464" y="3429000"/>
              <a:ext cx="37033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Match strategy to the disease, recognize complications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high-frequency oscillatory ventilation?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879092"/>
            <a:ext cx="2606040" cy="105156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9888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3-20 Hz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6072" y="2482596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180-1200 breaths / 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64408" y="1879092"/>
            <a:ext cx="2606040" cy="105156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19888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 err="1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2600" b="1" baseline="-25000" dirty="0" err="1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</a:t>
            </a:r>
            <a:r>
              <a:rPr lang="en-US" sz="2600" b="1" baseline="-25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V</a:t>
            </a:r>
            <a:r>
              <a:rPr lang="en-US" sz="2600" b="1" baseline="-250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2600" baseline="-25000" dirty="0"/>
          </a:p>
        </p:txBody>
      </p:sp>
      <p:sp>
        <p:nvSpPr>
          <p:cNvPr id="13" name="Text 11"/>
          <p:cNvSpPr/>
          <p:nvPr/>
        </p:nvSpPr>
        <p:spPr>
          <a:xfrm>
            <a:off x="3337560" y="2482596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 approx 2-3 mL/kg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9092"/>
            <a:ext cx="2606040" cy="105156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35040" y="19888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08192" y="2482596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inspiration AND expiration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851083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774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2788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HFV?</a:t>
            </a:r>
            <a:endParaRPr lang="en-US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396FC0-1FF7-E31B-214F-0A4E391397D7}"/>
              </a:ext>
            </a:extLst>
          </p:cNvPr>
          <p:cNvGrpSpPr/>
          <p:nvPr/>
        </p:nvGrpSpPr>
        <p:grpSpPr>
          <a:xfrm>
            <a:off x="566927" y="1953207"/>
            <a:ext cx="7845553" cy="2141575"/>
            <a:chOff x="566927" y="1953207"/>
            <a:chExt cx="7845553" cy="2141575"/>
          </a:xfrm>
        </p:grpSpPr>
        <p:sp>
          <p:nvSpPr>
            <p:cNvPr id="8" name="Shape 6"/>
            <p:cNvSpPr/>
            <p:nvPr/>
          </p:nvSpPr>
          <p:spPr>
            <a:xfrm>
              <a:off x="566928" y="2467150"/>
              <a:ext cx="7845552" cy="493776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9" name="Shape 7"/>
            <p:cNvSpPr/>
            <p:nvPr/>
          </p:nvSpPr>
          <p:spPr>
            <a:xfrm>
              <a:off x="566928" y="2467150"/>
              <a:ext cx="64008" cy="493776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2522014"/>
              <a:ext cx="4297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Volutrauma  -  </a:t>
              </a: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excessive cyclic volume swings</a:t>
              </a:r>
              <a:endParaRPr lang="en-US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66928" y="3034078"/>
              <a:ext cx="7845552" cy="493776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2" name="Shape 10"/>
            <p:cNvSpPr/>
            <p:nvPr/>
          </p:nvSpPr>
          <p:spPr>
            <a:xfrm>
              <a:off x="566928" y="3034078"/>
              <a:ext cx="64008" cy="493776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3" name="Text 11"/>
            <p:cNvSpPr/>
            <p:nvPr/>
          </p:nvSpPr>
          <p:spPr>
            <a:xfrm>
              <a:off x="731519" y="3088942"/>
              <a:ext cx="5515531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Atelectrauma  -  </a:t>
              </a: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repeated re-opening of collapsed units</a:t>
              </a:r>
              <a:endParaRPr lang="en-US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66927" y="3601006"/>
              <a:ext cx="7845551" cy="493776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5" name="Shape 13"/>
            <p:cNvSpPr/>
            <p:nvPr/>
          </p:nvSpPr>
          <p:spPr>
            <a:xfrm>
              <a:off x="566928" y="3601006"/>
              <a:ext cx="64008" cy="493776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6" name="Text 14"/>
            <p:cNvSpPr/>
            <p:nvPr/>
          </p:nvSpPr>
          <p:spPr>
            <a:xfrm>
              <a:off x="731520" y="3655870"/>
              <a:ext cx="4297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Rheotrauma  -  </a:t>
              </a: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shear from flow / re-inflation</a:t>
              </a:r>
              <a:endParaRPr lang="en-US" dirty="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42E51A08-F0CD-82D2-210C-77F2513BEAD2}"/>
                </a:ext>
              </a:extLst>
            </p:cNvPr>
            <p:cNvSpPr/>
            <p:nvPr/>
          </p:nvSpPr>
          <p:spPr>
            <a:xfrm>
              <a:off x="598932" y="1953207"/>
              <a:ext cx="4539510" cy="326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Complications of invasive ventilation</a:t>
              </a:r>
              <a:endParaRPr lang="en-US" sz="20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4CA82E-D91E-79B2-64EF-2E7F8D426739}"/>
              </a:ext>
            </a:extLst>
          </p:cNvPr>
          <p:cNvGrpSpPr/>
          <p:nvPr/>
        </p:nvGrpSpPr>
        <p:grpSpPr>
          <a:xfrm>
            <a:off x="178024" y="4210277"/>
            <a:ext cx="8787951" cy="493776"/>
            <a:chOff x="178024" y="4210277"/>
            <a:chExt cx="8787951" cy="493776"/>
          </a:xfrm>
        </p:grpSpPr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F6E2F185-778D-C067-B2F4-B93182C0D3E7}"/>
                </a:ext>
              </a:extLst>
            </p:cNvPr>
            <p:cNvSpPr/>
            <p:nvPr/>
          </p:nvSpPr>
          <p:spPr>
            <a:xfrm>
              <a:off x="178024" y="4210277"/>
              <a:ext cx="8787951" cy="493776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83875EDE-E71F-AA89-F015-998DD06A777B}"/>
                </a:ext>
              </a:extLst>
            </p:cNvPr>
            <p:cNvSpPr/>
            <p:nvPr/>
          </p:nvSpPr>
          <p:spPr>
            <a:xfrm>
              <a:off x="493372" y="4265141"/>
              <a:ext cx="838383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 of Ventilator-induced lung injury (VILI) &gt;&gt; Pneumothorax, BPD, Disability and Death</a:t>
              </a:r>
              <a:endParaRPr lang="en-US" dirty="0"/>
            </a:p>
          </p:txBody>
        </p:sp>
      </p:grpSp>
      <p:sp>
        <p:nvSpPr>
          <p:cNvPr id="5" name="Text 16">
            <a:extLst>
              <a:ext uri="{FF2B5EF4-FFF2-40B4-BE49-F238E27FC236}">
                <a16:creationId xmlns:a16="http://schemas.microsoft.com/office/drawing/2014/main" id="{89ECA749-A8E2-9BC6-C0BB-65B7079CC0AE}"/>
              </a:ext>
            </a:extLst>
          </p:cNvPr>
          <p:cNvSpPr/>
          <p:nvPr/>
        </p:nvSpPr>
        <p:spPr>
          <a:xfrm>
            <a:off x="598932" y="1375637"/>
            <a:ext cx="4086356" cy="3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Failure of invasive ventilation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HFV?</a:t>
            </a:r>
            <a:endParaRPr lang="en-US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B194C6-7249-322C-D509-8C356A3F9876}"/>
              </a:ext>
            </a:extLst>
          </p:cNvPr>
          <p:cNvGrpSpPr/>
          <p:nvPr/>
        </p:nvGrpSpPr>
        <p:grpSpPr>
          <a:xfrm>
            <a:off x="502920" y="1417320"/>
            <a:ext cx="4023360" cy="3108960"/>
            <a:chOff x="502920" y="1417320"/>
            <a:chExt cx="4023360" cy="3108960"/>
          </a:xfrm>
        </p:grpSpPr>
        <p:sp>
          <p:nvSpPr>
            <p:cNvPr id="7" name="Shape 5"/>
            <p:cNvSpPr/>
            <p:nvPr/>
          </p:nvSpPr>
          <p:spPr>
            <a:xfrm>
              <a:off x="502920" y="1417320"/>
              <a:ext cx="4023360" cy="310896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1417320"/>
              <a:ext cx="64008" cy="310896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9" name="Text 7"/>
            <p:cNvSpPr/>
            <p:nvPr/>
          </p:nvSpPr>
          <p:spPr>
            <a:xfrm>
              <a:off x="649224" y="150876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Lung mechanics</a:t>
              </a:r>
              <a:endParaRPr lang="en-US" sz="2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9224" y="1874520"/>
              <a:ext cx="370332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 peak alveolar pressures</a:t>
              </a:r>
              <a:endParaRPr lang="en-US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Preserves lung architecture even at high MAP</a:t>
              </a:r>
              <a:endParaRPr lang="en-US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Easier recruitment of the diseased lung</a:t>
              </a:r>
              <a:endParaRPr lang="en-US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Relatively independent control of oxygenation &amp; ventilation</a:t>
              </a:r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A60747-68D0-11AE-DF54-AE59D754EF29}"/>
              </a:ext>
            </a:extLst>
          </p:cNvPr>
          <p:cNvGrpSpPr/>
          <p:nvPr/>
        </p:nvGrpSpPr>
        <p:grpSpPr>
          <a:xfrm>
            <a:off x="4709160" y="1417320"/>
            <a:ext cx="4023360" cy="3108960"/>
            <a:chOff x="4709160" y="1417320"/>
            <a:chExt cx="4023360" cy="3108960"/>
          </a:xfrm>
        </p:grpSpPr>
        <p:sp>
          <p:nvSpPr>
            <p:cNvPr id="11" name="Shape 9"/>
            <p:cNvSpPr/>
            <p:nvPr/>
          </p:nvSpPr>
          <p:spPr>
            <a:xfrm>
              <a:off x="4709160" y="1417320"/>
              <a:ext cx="4023360" cy="310896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09160" y="1417320"/>
              <a:ext cx="64008" cy="3108960"/>
            </a:xfrm>
            <a:prstGeom prst="rect">
              <a:avLst/>
            </a:prstGeom>
            <a:solidFill>
              <a:srgbClr val="185FA5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3" name="Text 11"/>
            <p:cNvSpPr/>
            <p:nvPr/>
          </p:nvSpPr>
          <p:spPr>
            <a:xfrm>
              <a:off x="4855464" y="150876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Gas exchange &amp; drugs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855464" y="1874520"/>
              <a:ext cx="370332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Enhances distribution and diffusion of gases</a:t>
              </a:r>
              <a:endParaRPr lang="en-US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Efficient CO</a:t>
              </a:r>
              <a:r>
                <a:rPr lang="en-US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removal, independent of mean lung volume</a:t>
              </a:r>
              <a:endParaRPr lang="en-US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Improved delivery of inhaled NO</a:t>
              </a:r>
              <a:endParaRPr lang="en-US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Synergy with surfactant and open-lung strategy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/>
              </a:rPr>
              <a:t>Types of high-frequency ventilation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56617"/>
              </p:ext>
            </p:extLst>
          </p:nvPr>
        </p:nvGraphicFramePr>
        <p:xfrm>
          <a:off x="502920" y="1429782"/>
          <a:ext cx="8229600" cy="23164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gas is moved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HFOV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Piston / diaphragm / jet moves gas back &amp; forth at the airway opening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(push &amp; pull)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neonatal mode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HFJV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High-velocity jet injected into the airway via a special ETT adapter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leaks, PIE, inhomogeneous lung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HFFI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Pulses of fresh gas in inspiration; no high-velocity stream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common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67BE5084-29E4-7B83-3FE2-35484CEAB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785523"/>
              </p:ext>
            </p:extLst>
          </p:nvPr>
        </p:nvGraphicFramePr>
        <p:xfrm>
          <a:off x="1306864" y="2280444"/>
          <a:ext cx="6530272" cy="1706880"/>
        </p:xfrm>
        <a:graphic>
          <a:graphicData uri="http://schemas.openxmlformats.org/drawingml/2006/table">
            <a:tbl>
              <a:tblPr/>
              <a:tblGrid>
                <a:gridCol w="3407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Piston oscillator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SensorMedics 3100A/B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Diaphragm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Drager VN500, Fabian, Leoni Plus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valve + venturi jet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 5000/6000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HFOV gives you four dials</a:t>
            </a:r>
            <a:endParaRPr lang="en-US" sz="2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3DBFB3-E830-B0E4-CF1F-B7B1570F8CBA}"/>
              </a:ext>
            </a:extLst>
          </p:cNvPr>
          <p:cNvGrpSpPr/>
          <p:nvPr/>
        </p:nvGrpSpPr>
        <p:grpSpPr>
          <a:xfrm>
            <a:off x="502920" y="1417320"/>
            <a:ext cx="3977640" cy="1371600"/>
            <a:chOff x="502920" y="1417320"/>
            <a:chExt cx="3977640" cy="1371600"/>
          </a:xfrm>
        </p:grpSpPr>
        <p:sp>
          <p:nvSpPr>
            <p:cNvPr id="7" name="Shape 5"/>
            <p:cNvSpPr/>
            <p:nvPr/>
          </p:nvSpPr>
          <p:spPr>
            <a:xfrm>
              <a:off x="502920" y="1417320"/>
              <a:ext cx="3977640" cy="137160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1417320"/>
              <a:ext cx="64008" cy="1371600"/>
            </a:xfrm>
            <a:prstGeom prst="rect">
              <a:avLst/>
            </a:prstGeom>
            <a:solidFill>
              <a:srgbClr val="185FA5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9" name="Text 7"/>
            <p:cNvSpPr/>
            <p:nvPr/>
          </p:nvSpPr>
          <p:spPr>
            <a:xfrm>
              <a:off x="667512" y="1527048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Mean airway pressure</a:t>
              </a:r>
              <a:endParaRPr lang="en-US" sz="2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67512" y="1874520"/>
              <a:ext cx="31546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Sets distending lung volume -&gt; oxygenation</a:t>
              </a: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154680" y="150876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oxygenation</a:t>
              </a:r>
              <a:endParaRPr lang="en-US" sz="12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29A05BD-88DE-CBB6-E9E6-E6086EEAC975}"/>
              </a:ext>
            </a:extLst>
          </p:cNvPr>
          <p:cNvGrpSpPr/>
          <p:nvPr/>
        </p:nvGrpSpPr>
        <p:grpSpPr>
          <a:xfrm>
            <a:off x="4709160" y="1417320"/>
            <a:ext cx="3977640" cy="1371600"/>
            <a:chOff x="4709160" y="1417320"/>
            <a:chExt cx="3977640" cy="1371600"/>
          </a:xfrm>
        </p:grpSpPr>
        <p:sp>
          <p:nvSpPr>
            <p:cNvPr id="12" name="Shape 10"/>
            <p:cNvSpPr/>
            <p:nvPr/>
          </p:nvSpPr>
          <p:spPr>
            <a:xfrm>
              <a:off x="4709160" y="1417320"/>
              <a:ext cx="3977640" cy="137160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09160" y="1417320"/>
              <a:ext cx="64008" cy="1371600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4" name="Text 12"/>
            <p:cNvSpPr/>
            <p:nvPr/>
          </p:nvSpPr>
          <p:spPr>
            <a:xfrm>
              <a:off x="4873752" y="1527048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Amplitude (delta P)</a:t>
              </a:r>
              <a:endParaRPr lang="en-US" sz="2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73752" y="1874520"/>
              <a:ext cx="31546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Sets oscillatory volume -&gt; CO</a:t>
              </a:r>
              <a:r>
                <a:rPr lang="en-US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removal</a:t>
              </a:r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60920" y="150876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C241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ventilation</a:t>
              </a:r>
              <a:endParaRPr lang="en-US" sz="12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0B25594-D005-CD99-35ED-0C0206DD9825}"/>
              </a:ext>
            </a:extLst>
          </p:cNvPr>
          <p:cNvGrpSpPr/>
          <p:nvPr/>
        </p:nvGrpSpPr>
        <p:grpSpPr>
          <a:xfrm>
            <a:off x="502920" y="2971800"/>
            <a:ext cx="3977640" cy="1371600"/>
            <a:chOff x="502920" y="2971800"/>
            <a:chExt cx="3977640" cy="1371600"/>
          </a:xfrm>
        </p:grpSpPr>
        <p:sp>
          <p:nvSpPr>
            <p:cNvPr id="17" name="Shape 15"/>
            <p:cNvSpPr/>
            <p:nvPr/>
          </p:nvSpPr>
          <p:spPr>
            <a:xfrm>
              <a:off x="502920" y="2971800"/>
              <a:ext cx="3977640" cy="137160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8" name="Shape 16"/>
            <p:cNvSpPr/>
            <p:nvPr/>
          </p:nvSpPr>
          <p:spPr>
            <a:xfrm>
              <a:off x="502920" y="2971800"/>
              <a:ext cx="64008" cy="137160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9" name="Text 17"/>
            <p:cNvSpPr/>
            <p:nvPr/>
          </p:nvSpPr>
          <p:spPr>
            <a:xfrm>
              <a:off x="667512" y="3081528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Frequency (Hz)</a:t>
              </a:r>
              <a:endParaRPr lang="en-US" sz="2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67512" y="3429000"/>
              <a:ext cx="31546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Cycles per second; </a:t>
              </a:r>
            </a:p>
            <a:p>
              <a:pPr marL="0" indent="0">
                <a:buNone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interacts with VT &amp; damping</a:t>
              </a:r>
              <a:endParaRPr lang="en-US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154680" y="30632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3-20 Hz</a:t>
              </a:r>
              <a:endParaRPr lang="en-US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187A218-E340-FC3E-D076-377DF866A932}"/>
              </a:ext>
            </a:extLst>
          </p:cNvPr>
          <p:cNvGrpSpPr/>
          <p:nvPr/>
        </p:nvGrpSpPr>
        <p:grpSpPr>
          <a:xfrm>
            <a:off x="4709160" y="2971800"/>
            <a:ext cx="3977640" cy="1371600"/>
            <a:chOff x="4709160" y="2971800"/>
            <a:chExt cx="3977640" cy="1371600"/>
          </a:xfrm>
        </p:grpSpPr>
        <p:sp>
          <p:nvSpPr>
            <p:cNvPr id="22" name="Shape 20"/>
            <p:cNvSpPr/>
            <p:nvPr/>
          </p:nvSpPr>
          <p:spPr>
            <a:xfrm>
              <a:off x="4709160" y="2971800"/>
              <a:ext cx="3977640" cy="137160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09160" y="2971800"/>
              <a:ext cx="64008" cy="137160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24" name="Text 22"/>
            <p:cNvSpPr/>
            <p:nvPr/>
          </p:nvSpPr>
          <p:spPr>
            <a:xfrm>
              <a:off x="4873752" y="3081528"/>
              <a:ext cx="3429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I:E ratio</a:t>
              </a:r>
              <a:endParaRPr lang="en-US" sz="2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873752" y="3429000"/>
              <a:ext cx="31546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Relative time of forward vs reverse flow</a:t>
              </a: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360920" y="30632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1:1 or 1:2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GAS-MIXING PHYSIOLOGY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TRANSPORT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/>
              </a:rPr>
              <a:t>A cephalad shift from convection to diffusion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65176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651760" cy="1188720"/>
          </a:xfrm>
          <a:prstGeom prst="rect">
            <a:avLst/>
          </a:prstGeom>
          <a:solidFill>
            <a:srgbClr val="E1F5E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897880" y="1554480"/>
            <a:ext cx="2743200" cy="1188720"/>
          </a:xfrm>
          <a:prstGeom prst="rect">
            <a:avLst/>
          </a:prstGeom>
          <a:solidFill>
            <a:srgbClr val="F1EA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airways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/ bulk 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airways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meets diffusion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978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Acini / alveoli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9788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diffusion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17320" y="2907792"/>
            <a:ext cx="6309360" cy="0"/>
          </a:xfrm>
          <a:prstGeom prst="line">
            <a:avLst/>
          </a:prstGeom>
          <a:noFill/>
          <a:ln w="31750">
            <a:solidFill>
              <a:srgbClr val="C2410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9809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HFOV moves the convection-to-diffusion transition cephalad (toward larger airways)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dispersion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87752" y="356616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87752" y="3566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flow profiles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72584" y="356616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72584" y="3566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Branching-angle eddies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57416" y="3566160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57416" y="35661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alveolar ventilation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151376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415137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Pendelluft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87752" y="4151376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87752" y="415137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Cardiogenic mixing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72584" y="4151376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72584" y="415137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diffusion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57416" y="4151376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57416" y="415137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/ laminar mixing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GAS-MIXING PHYSIOLOGY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COEFFICIENT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</a:t>
            </a:r>
            <a:r>
              <a:rPr lang="en-US" sz="2400" b="1" baseline="-250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 x VT squared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_dco2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206240" cy="246888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8170AE5-0977-18D4-0D28-D647C2658CFD}"/>
              </a:ext>
            </a:extLst>
          </p:cNvPr>
          <p:cNvGrpSpPr/>
          <p:nvPr/>
        </p:nvGrpSpPr>
        <p:grpSpPr>
          <a:xfrm>
            <a:off x="4983479" y="2926080"/>
            <a:ext cx="3811219" cy="1687068"/>
            <a:chOff x="4983480" y="2926080"/>
            <a:chExt cx="3749040" cy="1005840"/>
          </a:xfrm>
        </p:grpSpPr>
        <p:sp>
          <p:nvSpPr>
            <p:cNvPr id="11" name="Shape 8"/>
            <p:cNvSpPr/>
            <p:nvPr/>
          </p:nvSpPr>
          <p:spPr>
            <a:xfrm>
              <a:off x="4983480" y="2926080"/>
              <a:ext cx="3749040" cy="1005840"/>
            </a:xfrm>
            <a:prstGeom prst="rect">
              <a:avLst/>
            </a:prstGeom>
            <a:solidFill>
              <a:srgbClr val="FFF8EF"/>
            </a:solidFill>
            <a:ln w="12700">
              <a:solidFill>
                <a:srgbClr val="F1D9B4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2" name="Shape 9"/>
            <p:cNvSpPr/>
            <p:nvPr/>
          </p:nvSpPr>
          <p:spPr>
            <a:xfrm>
              <a:off x="4983480" y="2926080"/>
              <a:ext cx="64008" cy="1005840"/>
            </a:xfrm>
            <a:prstGeom prst="rect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0"/>
            <p:cNvSpPr/>
            <p:nvPr/>
          </p:nvSpPr>
          <p:spPr>
            <a:xfrm>
              <a:off x="5148072" y="2990088"/>
              <a:ext cx="3438144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Effect of change in Frequency : </a:t>
              </a:r>
            </a:p>
            <a:p>
              <a:pPr marL="0" indent="0">
                <a:buNone/>
              </a:pP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Without VG: raising f shortens Ti &gt;&gt;  less VT, &gt;&gt; lower DCO</a:t>
              </a:r>
              <a:r>
                <a:rPr lang="en-US" baseline="-250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dirty="0">
                <a:solidFill>
                  <a:srgbClr val="7A5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With VG: the set VT is held, so raising f raises DCO</a:t>
              </a:r>
              <a:r>
                <a:rPr lang="en-US" baseline="-250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872E19-1565-AB67-2312-EC756592DE07}"/>
              </a:ext>
            </a:extLst>
          </p:cNvPr>
          <p:cNvGrpSpPr/>
          <p:nvPr/>
        </p:nvGrpSpPr>
        <p:grpSpPr>
          <a:xfrm>
            <a:off x="4937760" y="1627631"/>
            <a:ext cx="3995928" cy="799979"/>
            <a:chOff x="502920" y="4114800"/>
            <a:chExt cx="4206240" cy="566928"/>
          </a:xfrm>
        </p:grpSpPr>
        <p:sp>
          <p:nvSpPr>
            <p:cNvPr id="14" name="Shape 11"/>
            <p:cNvSpPr/>
            <p:nvPr/>
          </p:nvSpPr>
          <p:spPr>
            <a:xfrm>
              <a:off x="502920" y="4114800"/>
              <a:ext cx="4206240" cy="566928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2"/>
            <p:cNvSpPr/>
            <p:nvPr/>
          </p:nvSpPr>
          <p:spPr>
            <a:xfrm>
              <a:off x="502920" y="4114800"/>
              <a:ext cx="64008" cy="566928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3"/>
            <p:cNvSpPr/>
            <p:nvPr/>
          </p:nvSpPr>
          <p:spPr>
            <a:xfrm>
              <a:off x="667512" y="4178808"/>
              <a:ext cx="389534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DCO</a:t>
              </a:r>
              <a:r>
                <a:rPr lang="en-US" sz="1600" b="1" baseline="-25000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40-60 mL</a:t>
              </a:r>
              <a:r>
                <a:rPr lang="en-US" sz="1600" b="1" baseline="30000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/kg</a:t>
              </a:r>
              <a:r>
                <a:rPr lang="en-US" sz="1600" b="1" baseline="30000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/s</a:t>
              </a:r>
              <a:r>
                <a:rPr lang="en-US" sz="1600" dirty="0">
                  <a:solidFill>
                    <a:srgbClr val="2843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for mild permissive hypercapnia.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GAS-MIXING PHYSIOLOGY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r>
              <a:rPr lang="en-US" sz="2400" b="1" baseline="-250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clearance is independent of mean lung volume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2_co2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57200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 from Slutsky et al., 1981 - points overlap across lung volumes.</a:t>
            </a:r>
            <a:endParaRPr lang="en-US" sz="8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82F611-8363-A5D2-390F-93FAD0A19751}"/>
              </a:ext>
            </a:extLst>
          </p:cNvPr>
          <p:cNvGrpSpPr/>
          <p:nvPr/>
        </p:nvGrpSpPr>
        <p:grpSpPr>
          <a:xfrm>
            <a:off x="5349240" y="1463040"/>
            <a:ext cx="3291840" cy="2743200"/>
            <a:chOff x="5349240" y="1463040"/>
            <a:chExt cx="3291840" cy="2743200"/>
          </a:xfrm>
        </p:grpSpPr>
        <p:sp>
          <p:nvSpPr>
            <p:cNvPr id="9" name="Shape 6"/>
            <p:cNvSpPr/>
            <p:nvPr/>
          </p:nvSpPr>
          <p:spPr>
            <a:xfrm>
              <a:off x="5349240" y="1463040"/>
              <a:ext cx="3291840" cy="274320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0" name="Text 7"/>
            <p:cNvSpPr/>
            <p:nvPr/>
          </p:nvSpPr>
          <p:spPr>
            <a:xfrm>
              <a:off x="5495544" y="1554480"/>
              <a:ext cx="3017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it matters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486400" y="1920240"/>
              <a:ext cx="306324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removal tracks oscillatory flow (f x VT), not how inflated the lung is</a:t>
              </a:r>
              <a:endParaRPr lang="en-US" sz="16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DCO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= f x VT squared</a:t>
              </a:r>
              <a:endParaRPr lang="en-US" sz="16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Clinically: oxygenation set by MAP and volume; ventilation set by amplitude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HFV WORK FOR VENTILATION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= compliance + resistance + inertance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4C8B9E-3783-B75F-6A5B-D3FD4ABD40E5}"/>
              </a:ext>
            </a:extLst>
          </p:cNvPr>
          <p:cNvGrpSpPr/>
          <p:nvPr/>
        </p:nvGrpSpPr>
        <p:grpSpPr>
          <a:xfrm>
            <a:off x="502920" y="1463040"/>
            <a:ext cx="2670048" cy="3017520"/>
            <a:chOff x="502920" y="1463040"/>
            <a:chExt cx="2670048" cy="3017520"/>
          </a:xfrm>
        </p:grpSpPr>
        <p:sp>
          <p:nvSpPr>
            <p:cNvPr id="7" name="Shape 5"/>
            <p:cNvSpPr/>
            <p:nvPr/>
          </p:nvSpPr>
          <p:spPr>
            <a:xfrm>
              <a:off x="502920" y="1463040"/>
              <a:ext cx="2670048" cy="301752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1463040"/>
              <a:ext cx="64008" cy="301752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9" name="Text 7"/>
            <p:cNvSpPr/>
            <p:nvPr/>
          </p:nvSpPr>
          <p:spPr>
            <a:xfrm>
              <a:off x="649224" y="1572768"/>
              <a:ext cx="239572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Compliance (elastic)</a:t>
              </a: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9224" y="2121408"/>
              <a:ext cx="2395728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 C gives shorter time constants and MORE transmission to alveoli. </a:t>
              </a:r>
            </a:p>
            <a:p>
              <a:pPr marL="0" indent="0">
                <a:buNone/>
              </a:pPr>
              <a:endPara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Stiff or atelectatic units receive a higher percentage of the swing - both a risk and a route to recruitment.</a:t>
              </a:r>
              <a:endParaRPr lang="en-US" sz="16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9393DC-B6A3-2A6A-6ED5-83872A420A88}"/>
              </a:ext>
            </a:extLst>
          </p:cNvPr>
          <p:cNvGrpSpPr/>
          <p:nvPr/>
        </p:nvGrpSpPr>
        <p:grpSpPr>
          <a:xfrm>
            <a:off x="3236976" y="1463040"/>
            <a:ext cx="2670048" cy="3017520"/>
            <a:chOff x="3236976" y="1463040"/>
            <a:chExt cx="2670048" cy="3017520"/>
          </a:xfrm>
        </p:grpSpPr>
        <p:sp>
          <p:nvSpPr>
            <p:cNvPr id="11" name="Shape 9"/>
            <p:cNvSpPr/>
            <p:nvPr/>
          </p:nvSpPr>
          <p:spPr>
            <a:xfrm>
              <a:off x="3236976" y="1463040"/>
              <a:ext cx="2670048" cy="301752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36976" y="1463040"/>
              <a:ext cx="64008" cy="3017520"/>
            </a:xfrm>
            <a:prstGeom prst="rect">
              <a:avLst/>
            </a:prstGeom>
            <a:solidFill>
              <a:srgbClr val="185FA5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3" name="Text 11"/>
            <p:cNvSpPr/>
            <p:nvPr/>
          </p:nvSpPr>
          <p:spPr>
            <a:xfrm>
              <a:off x="3383280" y="1572768"/>
              <a:ext cx="239572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Resistance (flow)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383280" y="2121408"/>
              <a:ext cx="2395728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Raises impedance at and beyond an obstruction;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higher set delta P, which raises pressure on airways PROXIMAL to the block. 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ETT resistance is flow-dependent: R = k1 + k2 x flow.</a:t>
              </a:r>
              <a:endParaRPr lang="en-US" sz="16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F248709-B619-29A6-2A2B-479ACEC5CA24}"/>
              </a:ext>
            </a:extLst>
          </p:cNvPr>
          <p:cNvGrpSpPr/>
          <p:nvPr/>
        </p:nvGrpSpPr>
        <p:grpSpPr>
          <a:xfrm>
            <a:off x="5971032" y="1463040"/>
            <a:ext cx="2670048" cy="3017520"/>
            <a:chOff x="5971032" y="1463040"/>
            <a:chExt cx="2670048" cy="3017520"/>
          </a:xfrm>
        </p:grpSpPr>
        <p:sp>
          <p:nvSpPr>
            <p:cNvPr id="15" name="Shape 13"/>
            <p:cNvSpPr/>
            <p:nvPr/>
          </p:nvSpPr>
          <p:spPr>
            <a:xfrm>
              <a:off x="5971032" y="1463040"/>
              <a:ext cx="2670048" cy="301752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6" name="Shape 14"/>
            <p:cNvSpPr/>
            <p:nvPr/>
          </p:nvSpPr>
          <p:spPr>
            <a:xfrm>
              <a:off x="5971032" y="1463040"/>
              <a:ext cx="64008" cy="30175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7" name="Text 15"/>
            <p:cNvSpPr/>
            <p:nvPr/>
          </p:nvSpPr>
          <p:spPr>
            <a:xfrm>
              <a:off x="6117336" y="1572768"/>
              <a:ext cx="239572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Inertance (acceleration)</a:t>
              </a:r>
              <a:endParaRPr lang="en-US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117336" y="2121408"/>
              <a:ext cx="2395728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Negligible in tidal breathing; matters in HFV due to rapid flow reversals. 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Arises mainly in the ETT and major airways; does not itself change alveolar transmission.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INHOMOGENEOUS LUNG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file"/>
              </a:rPr>
              <a:t>Where does the oscillatory pressure go?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937760" cy="310896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airway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0" y="1645920"/>
            <a:ext cx="1371600" cy="713232"/>
          </a:xfrm>
          <a:prstGeom prst="ellipse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22192" y="1645920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Atelectatic: high pressure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148840" y="3063240"/>
            <a:ext cx="1691640" cy="0"/>
          </a:xfrm>
          <a:prstGeom prst="line">
            <a:avLst/>
          </a:prstGeom>
          <a:noFill/>
          <a:ln w="17780">
            <a:solidFill>
              <a:srgbClr val="AEBC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840480" y="2560320"/>
            <a:ext cx="1371600" cy="713232"/>
          </a:xfrm>
          <a:prstGeom prst="ellipse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22192" y="2560320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Aerated: protected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148840" y="3063240"/>
            <a:ext cx="1691640" cy="0"/>
          </a:xfrm>
          <a:prstGeom prst="line">
            <a:avLst/>
          </a:prstGeom>
          <a:noFill/>
          <a:ln w="17780">
            <a:solidFill>
              <a:srgbClr val="AEBC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0" y="3474720"/>
            <a:ext cx="1371600" cy="713232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22192" y="3474720"/>
            <a:ext cx="1408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to high R: low pressure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148840" y="3063240"/>
            <a:ext cx="1691640" cy="768096"/>
          </a:xfrm>
          <a:prstGeom prst="line">
            <a:avLst/>
          </a:prstGeom>
          <a:noFill/>
          <a:ln w="17780">
            <a:solidFill>
              <a:srgbClr val="AEBC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623560" y="1463040"/>
            <a:ext cx="3017520" cy="310896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69864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transmission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9864" y="1874520"/>
            <a:ext cx="2743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Short-time-constant (low-compliance) units get HIGHER oscillatory pressure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Aerated, longer-time-constant units are relatively protected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peripheral resistance pushes pressure onto proximal airways and neighbours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high pressure that risks barotrauma can recruit if it exceeds opening pressure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ED2DD-4D14-7AFD-2CA7-5D71A1CD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4AEF57-2FCC-8901-30E1-CF1DB5AED5E9}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A68E69-BD83-DACA-2C0A-9DBE897D332C}"/>
              </a:ext>
            </a:extLst>
          </p:cNvPr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ABFD35-CAE4-BBF4-1C27-48212B85F233}"/>
              </a:ext>
            </a:extLst>
          </p:cNvPr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C13D72-0A5D-2D7C-674A-2B4970B33EFF}"/>
              </a:ext>
            </a:extLst>
          </p:cNvPr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HFV WORK FOR VENTILATION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8682C6-EE49-BFF7-1640-C6F42E120E10}"/>
              </a:ext>
            </a:extLst>
          </p:cNvPr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= compliance + resistance + inertance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E34195-E19B-1A4E-9ACC-35936237F3C4}"/>
              </a:ext>
            </a:extLst>
          </p:cNvPr>
          <p:cNvGrpSpPr/>
          <p:nvPr/>
        </p:nvGrpSpPr>
        <p:grpSpPr>
          <a:xfrm>
            <a:off x="502920" y="1463040"/>
            <a:ext cx="2670048" cy="3017520"/>
            <a:chOff x="502920" y="1463040"/>
            <a:chExt cx="2670048" cy="301752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6A44101C-D977-21FA-E358-8E5EF4D707C7}"/>
                </a:ext>
              </a:extLst>
            </p:cNvPr>
            <p:cNvSpPr/>
            <p:nvPr/>
          </p:nvSpPr>
          <p:spPr>
            <a:xfrm>
              <a:off x="502920" y="1463040"/>
              <a:ext cx="2670048" cy="301752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633E22AF-D96B-00DB-B63D-8777FA25D380}"/>
                </a:ext>
              </a:extLst>
            </p:cNvPr>
            <p:cNvSpPr/>
            <p:nvPr/>
          </p:nvSpPr>
          <p:spPr>
            <a:xfrm>
              <a:off x="502920" y="1463040"/>
              <a:ext cx="64008" cy="301752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F7E6DACC-DEE8-1D69-FB0B-8962882B15A7}"/>
                </a:ext>
              </a:extLst>
            </p:cNvPr>
            <p:cNvSpPr/>
            <p:nvPr/>
          </p:nvSpPr>
          <p:spPr>
            <a:xfrm>
              <a:off x="649224" y="1572768"/>
              <a:ext cx="239572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Compliance (elastic)</a:t>
              </a:r>
              <a:endParaRPr lang="en-US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35B4C041-DF46-A8E1-6A36-C62D2D79D7A9}"/>
                </a:ext>
              </a:extLst>
            </p:cNvPr>
            <p:cNvSpPr/>
            <p:nvPr/>
          </p:nvSpPr>
          <p:spPr>
            <a:xfrm>
              <a:off x="649224" y="2121408"/>
              <a:ext cx="2395728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Lower C gives shorter time constants and MORE transmission to alveoli. </a:t>
              </a:r>
            </a:p>
            <a:p>
              <a:pPr marL="0" indent="0">
                <a:buNone/>
              </a:pPr>
              <a:endPara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Stiff or atelectatic units receive a higher percentage of the swing - both a risk and a route to recruitment.</a:t>
              </a:r>
              <a:endParaRPr lang="en-US" sz="16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AB9A90-DC26-29B0-BA66-73CB6AE34AF2}"/>
              </a:ext>
            </a:extLst>
          </p:cNvPr>
          <p:cNvGrpSpPr/>
          <p:nvPr/>
        </p:nvGrpSpPr>
        <p:grpSpPr>
          <a:xfrm>
            <a:off x="3236976" y="1463040"/>
            <a:ext cx="2670048" cy="3017520"/>
            <a:chOff x="3236976" y="1463040"/>
            <a:chExt cx="2670048" cy="3017520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5BD3B073-BB1F-57F3-CCF3-A84245B39A22}"/>
                </a:ext>
              </a:extLst>
            </p:cNvPr>
            <p:cNvSpPr/>
            <p:nvPr/>
          </p:nvSpPr>
          <p:spPr>
            <a:xfrm>
              <a:off x="3236976" y="1463040"/>
              <a:ext cx="2670048" cy="301752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55AA0A7C-E9AC-400D-6942-8D127FB4159D}"/>
                </a:ext>
              </a:extLst>
            </p:cNvPr>
            <p:cNvSpPr/>
            <p:nvPr/>
          </p:nvSpPr>
          <p:spPr>
            <a:xfrm>
              <a:off x="3236976" y="1463040"/>
              <a:ext cx="64008" cy="3017520"/>
            </a:xfrm>
            <a:prstGeom prst="rect">
              <a:avLst/>
            </a:prstGeom>
            <a:solidFill>
              <a:srgbClr val="185FA5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7281198D-932E-8E71-946E-F6C8444215A1}"/>
                </a:ext>
              </a:extLst>
            </p:cNvPr>
            <p:cNvSpPr/>
            <p:nvPr/>
          </p:nvSpPr>
          <p:spPr>
            <a:xfrm>
              <a:off x="3383280" y="1572768"/>
              <a:ext cx="239572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Resistance (flow)</a:t>
              </a:r>
              <a:endParaRPr lang="en-US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8C77EF38-6EB1-2786-5192-24356DA168DD}"/>
                </a:ext>
              </a:extLst>
            </p:cNvPr>
            <p:cNvSpPr/>
            <p:nvPr/>
          </p:nvSpPr>
          <p:spPr>
            <a:xfrm>
              <a:off x="3383280" y="2121408"/>
              <a:ext cx="2395728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Raises impedance at and beyond an obstruction;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Needs higher set delta P, which raises pressure on airways PROXIMAL to the block. 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ETT resistance is flow-dependent: R = k1 + k2 x flow.</a:t>
              </a:r>
              <a:endParaRPr lang="en-US" sz="16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70D80B-A15E-C344-A78D-5EE6EDF8EFFA}"/>
              </a:ext>
            </a:extLst>
          </p:cNvPr>
          <p:cNvGrpSpPr/>
          <p:nvPr/>
        </p:nvGrpSpPr>
        <p:grpSpPr>
          <a:xfrm>
            <a:off x="5971032" y="1463040"/>
            <a:ext cx="2670048" cy="3017520"/>
            <a:chOff x="5971032" y="1463040"/>
            <a:chExt cx="2670048" cy="3017520"/>
          </a:xfrm>
        </p:grpSpPr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49115599-2A85-D91B-645D-E7A950AB2F23}"/>
                </a:ext>
              </a:extLst>
            </p:cNvPr>
            <p:cNvSpPr/>
            <p:nvPr/>
          </p:nvSpPr>
          <p:spPr>
            <a:xfrm>
              <a:off x="5971032" y="1463040"/>
              <a:ext cx="2670048" cy="301752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3747474-B05F-9A8D-EB69-DE666A10BE7B}"/>
                </a:ext>
              </a:extLst>
            </p:cNvPr>
            <p:cNvSpPr/>
            <p:nvPr/>
          </p:nvSpPr>
          <p:spPr>
            <a:xfrm>
              <a:off x="5971032" y="1463040"/>
              <a:ext cx="64008" cy="301752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CE1F3C52-E717-1DD1-9F5B-629E1504C1C8}"/>
                </a:ext>
              </a:extLst>
            </p:cNvPr>
            <p:cNvSpPr/>
            <p:nvPr/>
          </p:nvSpPr>
          <p:spPr>
            <a:xfrm>
              <a:off x="6117336" y="1572768"/>
              <a:ext cx="239572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Inertance (acceleration)</a:t>
              </a:r>
              <a:endParaRPr lang="en-US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BCD04633-E124-15E0-E62A-4226CB65F6EF}"/>
                </a:ext>
              </a:extLst>
            </p:cNvPr>
            <p:cNvSpPr/>
            <p:nvPr/>
          </p:nvSpPr>
          <p:spPr>
            <a:xfrm>
              <a:off x="6117336" y="2121408"/>
              <a:ext cx="2395728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Negligible in tidal breathing; matters in HFV due to rapid flow reversals. 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Arises mainly in the ETT and major airways; does not itself change alveolar transmission.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6582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is damped from airway opening to alveolus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3_damping_compl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297680" cy="214884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1EB41A3-8100-3401-6FF6-6B237C7B3DD0}"/>
              </a:ext>
            </a:extLst>
          </p:cNvPr>
          <p:cNvGrpSpPr/>
          <p:nvPr/>
        </p:nvGrpSpPr>
        <p:grpSpPr>
          <a:xfrm>
            <a:off x="4983480" y="1417319"/>
            <a:ext cx="3749040" cy="1916599"/>
            <a:chOff x="4983480" y="1417320"/>
            <a:chExt cx="3749040" cy="1691640"/>
          </a:xfrm>
        </p:grpSpPr>
        <p:sp>
          <p:nvSpPr>
            <p:cNvPr id="8" name="Shape 5"/>
            <p:cNvSpPr/>
            <p:nvPr/>
          </p:nvSpPr>
          <p:spPr>
            <a:xfrm>
              <a:off x="4983480" y="1417320"/>
              <a:ext cx="3749040" cy="169164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9" name="Shape 6"/>
            <p:cNvSpPr/>
            <p:nvPr/>
          </p:nvSpPr>
          <p:spPr>
            <a:xfrm>
              <a:off x="4983480" y="1417320"/>
              <a:ext cx="64008" cy="1691640"/>
            </a:xfrm>
            <a:prstGeom prst="rect">
              <a:avLst/>
            </a:prstGeom>
            <a:solidFill>
              <a:srgbClr val="185FA5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0" name="Text 7"/>
            <p:cNvSpPr/>
            <p:nvPr/>
          </p:nvSpPr>
          <p:spPr>
            <a:xfrm>
              <a:off x="5129784" y="1508760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85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Damped, but not always safe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129784" y="1828800"/>
              <a:ext cx="34747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a compliant lung, Ti is longer and short HFOV inspiratory times do not fully transmit the wave, so it is heavily damped. 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a low-compliance lung, time constants shorten and a HIGHER fraction reaches the alveolus.</a:t>
              </a:r>
              <a:endParaRPr lang="en-US" sz="1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010513-CCC9-D6FB-4644-76BB8AA0E6DB}"/>
              </a:ext>
            </a:extLst>
          </p:cNvPr>
          <p:cNvGrpSpPr/>
          <p:nvPr/>
        </p:nvGrpSpPr>
        <p:grpSpPr>
          <a:xfrm>
            <a:off x="502919" y="3611880"/>
            <a:ext cx="8454964" cy="1216152"/>
            <a:chOff x="502920" y="3794760"/>
            <a:chExt cx="8229600" cy="868680"/>
          </a:xfrm>
        </p:grpSpPr>
        <p:sp>
          <p:nvSpPr>
            <p:cNvPr id="12" name="Shape 9"/>
            <p:cNvSpPr/>
            <p:nvPr/>
          </p:nvSpPr>
          <p:spPr>
            <a:xfrm>
              <a:off x="502920" y="3794760"/>
              <a:ext cx="8229600" cy="868680"/>
            </a:xfrm>
            <a:prstGeom prst="rect">
              <a:avLst/>
            </a:prstGeom>
            <a:solidFill>
              <a:srgbClr val="FFF8EF"/>
            </a:solidFill>
            <a:ln w="12700">
              <a:solidFill>
                <a:srgbClr val="F1D9B4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3" name="Shape 10"/>
            <p:cNvSpPr/>
            <p:nvPr/>
          </p:nvSpPr>
          <p:spPr>
            <a:xfrm>
              <a:off x="502920" y="3794760"/>
              <a:ext cx="64008" cy="868680"/>
            </a:xfrm>
            <a:prstGeom prst="rect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14" name="Text 11"/>
            <p:cNvSpPr/>
            <p:nvPr/>
          </p:nvSpPr>
          <p:spPr>
            <a:xfrm>
              <a:off x="667512" y="3858768"/>
              <a:ext cx="7918704" cy="740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HFOV can still cause barotrauma:  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Systematic reviews show more air leak on HFOV. 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tidal volume does NOT guarantee low alveolar pressure amplitude - it depends on impedance.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PHYSICS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frequency (fc): the pressure-cost sweet spot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206240" cy="603504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8F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 = 1 / (2 pi R x C)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fc, little extra alveolar damping is gained, at the cost of higher proximal-airway pressure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Ventilating near fc gives the minimum pressure cost per unit oscillatory flow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time constant gives higher fc, and vice versa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8B94860-31EA-924D-6DE2-F7532B2EB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64740"/>
            <a:ext cx="3548358" cy="2837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E9A42-59DC-EE11-7585-D977E4ED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D199DA-4877-F090-E7D8-5A7BF77912FF}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1CE420-CA42-ED4E-5A2A-867CEC51524B}"/>
              </a:ext>
            </a:extLst>
          </p:cNvPr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DA2B61-3C76-95CC-9CCE-46DFFDB99E20}"/>
              </a:ext>
            </a:extLst>
          </p:cNvPr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5D770D-3237-C676-3F40-DCCC6A858C6F}"/>
              </a:ext>
            </a:extLst>
          </p:cNvPr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PHYSICS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F37C2E-1098-57B2-10DD-DBD9A69F4F66}"/>
              </a:ext>
            </a:extLst>
          </p:cNvPr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frequency (fc): the pressure-cost sweet spot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C443F56-697F-757D-AAC7-0AC89E034ADF}"/>
              </a:ext>
            </a:extLst>
          </p:cNvPr>
          <p:cNvSpPr/>
          <p:nvPr/>
        </p:nvSpPr>
        <p:spPr>
          <a:xfrm>
            <a:off x="502920" y="1417320"/>
            <a:ext cx="4206240" cy="603504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8229E5-EBBC-A0FC-4592-356F63A1061E}"/>
              </a:ext>
            </a:extLst>
          </p:cNvPr>
          <p:cNvSpPr/>
          <p:nvPr/>
        </p:nvSpPr>
        <p:spPr>
          <a:xfrm>
            <a:off x="502920" y="14173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8F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 = 1 / (2 pi R x C)</a:t>
            </a: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CE1CC7-2364-1D1D-419A-9DF52E6534E6}"/>
              </a:ext>
            </a:extLst>
          </p:cNvPr>
          <p:cNvSpPr/>
          <p:nvPr/>
        </p:nvSpPr>
        <p:spPr>
          <a:xfrm>
            <a:off x="502920" y="21945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fc, little extra alveolar damping is gained, at the cost of higher proximal-airway pressure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Ventilating near fc gives the minimum pressure cost per unit oscillatory flow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time constant gives higher fc, and vice versa</a:t>
            </a:r>
            <a:endParaRPr lang="en-US" sz="1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38D07C-2698-E318-087F-32E3965B853A}"/>
              </a:ext>
            </a:extLst>
          </p:cNvPr>
          <p:cNvGrpSpPr/>
          <p:nvPr/>
        </p:nvGrpSpPr>
        <p:grpSpPr>
          <a:xfrm>
            <a:off x="502920" y="3886200"/>
            <a:ext cx="4206240" cy="777240"/>
            <a:chOff x="502920" y="3886200"/>
            <a:chExt cx="4206240" cy="77724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0B47339D-62C9-F900-C51C-81E4E735C4B1}"/>
                </a:ext>
              </a:extLst>
            </p:cNvPr>
            <p:cNvSpPr/>
            <p:nvPr/>
          </p:nvSpPr>
          <p:spPr>
            <a:xfrm>
              <a:off x="502920" y="3886200"/>
              <a:ext cx="4206240" cy="77724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BB600956-9BD4-1DA6-15AF-56101C962753}"/>
                </a:ext>
              </a:extLst>
            </p:cNvPr>
            <p:cNvSpPr/>
            <p:nvPr/>
          </p:nvSpPr>
          <p:spPr>
            <a:xfrm>
              <a:off x="502920" y="3886200"/>
              <a:ext cx="64008" cy="77724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2A1BB296-7A62-35EC-5B41-1D6FE584CD99}"/>
                </a:ext>
              </a:extLst>
            </p:cNvPr>
            <p:cNvSpPr/>
            <p:nvPr/>
          </p:nvSpPr>
          <p:spPr>
            <a:xfrm>
              <a:off x="667512" y="3950208"/>
              <a:ext cx="3895344" cy="649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Example:  </a:t>
              </a:r>
              <a:r>
                <a:rPr lang="en-US" sz="1200" dirty="0">
                  <a:solidFill>
                    <a:srgbClr val="2843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600 g preterm, C 0.1 mL/cmH2O, R 100 cmH2O/L/s gives time constant about 10 ms and fc about 15.9 Hz.</a:t>
              </a:r>
              <a:endParaRPr lang="en-US" sz="1200" dirty="0"/>
            </a:p>
          </p:txBody>
        </p:sp>
      </p:grpSp>
      <p:pic>
        <p:nvPicPr>
          <p:cNvPr id="13" name="Image 0" descr="/sessions/youthful-gifted-mccarthy/mnt/HFV/deck_assets/pptx_figs/g6_corner_tau.png">
            <a:extLst>
              <a:ext uri="{FF2B5EF4-FFF2-40B4-BE49-F238E27FC236}">
                <a16:creationId xmlns:a16="http://schemas.microsoft.com/office/drawing/2014/main" id="{4EF9BBBF-5386-24F3-4A9B-7316219EA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3749040" cy="237744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AC100F0F-F31B-5A4B-5DD3-96A8A7EC596E}"/>
              </a:ext>
            </a:extLst>
          </p:cNvPr>
          <p:cNvSpPr/>
          <p:nvPr/>
        </p:nvSpPr>
        <p:spPr>
          <a:xfrm>
            <a:off x="4892040" y="3950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time constant shortens, corner frequency rises.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31442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PHYSICS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frequency (f0)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206240" cy="640080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8F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 = 1 / (2 pi sqrt(I x C))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f0 the system stores vibrational energy - small forces give large alveolar oscillations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is at its minimum; alveolar amplitude can equal or exceed central-airway amplitude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compliance gives higher f0 (stiff lungs resonate higher)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Amplification is rarely a problem in the over-damped neonatal lung</a:t>
            </a:r>
            <a:endParaRPr lang="en-US" sz="1600" dirty="0"/>
          </a:p>
        </p:txBody>
      </p:sp>
      <p:pic>
        <p:nvPicPr>
          <p:cNvPr id="10" name="Image 0" descr="/sessions/youthful-gifted-mccarthy/mnt/HFV/deck_assets/pptx_figs/g5_impe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374904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3858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falls with frequency; fc sits below f0.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BAROTRAUMA RISK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carinal pressure vs frequency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7_peak_car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93776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4224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after Venegas &amp; Fredberg, 1994.</a:t>
            </a:r>
            <a:endParaRPr lang="en-US" sz="8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558283-4464-2E36-85A4-1C2000B26835}"/>
              </a:ext>
            </a:extLst>
          </p:cNvPr>
          <p:cNvGrpSpPr/>
          <p:nvPr/>
        </p:nvGrpSpPr>
        <p:grpSpPr>
          <a:xfrm>
            <a:off x="5577840" y="1463040"/>
            <a:ext cx="3108960" cy="2788920"/>
            <a:chOff x="5577840" y="1463040"/>
            <a:chExt cx="3108960" cy="2788920"/>
          </a:xfrm>
        </p:grpSpPr>
        <p:sp>
          <p:nvSpPr>
            <p:cNvPr id="9" name="Shape 6"/>
            <p:cNvSpPr/>
            <p:nvPr/>
          </p:nvSpPr>
          <p:spPr>
            <a:xfrm>
              <a:off x="5577840" y="1463040"/>
              <a:ext cx="3108960" cy="278892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5724144" y="1554480"/>
              <a:ext cx="28346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Clinical application</a:t>
              </a:r>
              <a:endParaRPr lang="en-US" sz="1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724144" y="1920240"/>
              <a:ext cx="2834640" cy="2240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carinal pressure is the key determinant of barotrauma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 is lowest near the corner frequency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 compliance (RDS) shifts the curve right - use higher frequency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resistance narrows the safe range and raises pressures overall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FREQUENCY PHYSICS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 MARKER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Oscillatory pressure ratio (OPR)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206240" cy="566928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OPR = deltaP(distal ETT) / deltaP(proximal ETT)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with compliance: as Crs rises, swings are attenuated more and OPR falls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 is minimal at maximal compliance - optimal recruitment, minimal overdistension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 is high at BOTH extremes: collapsed (low Paw) and overdistended (high Paw)</a:t>
            </a:r>
            <a:endParaRPr lang="en-US" dirty="0"/>
          </a:p>
        </p:txBody>
      </p:sp>
      <p:pic>
        <p:nvPicPr>
          <p:cNvPr id="10" name="Image 0" descr="/sessions/youthful-gifted-mccarthy/mnt/HFV/deck_assets/pptx_figs/g8_o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54480"/>
            <a:ext cx="3749040" cy="2377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3950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U-shaped relationship; the trough marks best distending pressure.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What sets the delivered tidal volume?</a:t>
            </a:r>
            <a:endParaRPr lang="en-US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3A3AB1-9111-E058-796F-47A48A8622D8}"/>
              </a:ext>
            </a:extLst>
          </p:cNvPr>
          <p:cNvGrpSpPr/>
          <p:nvPr/>
        </p:nvGrpSpPr>
        <p:grpSpPr>
          <a:xfrm>
            <a:off x="2213172" y="1163635"/>
            <a:ext cx="4572000" cy="548640"/>
            <a:chOff x="2286000" y="1307754"/>
            <a:chExt cx="4572000" cy="548640"/>
          </a:xfrm>
        </p:grpSpPr>
        <p:sp>
          <p:nvSpPr>
            <p:cNvPr id="7" name="Shape 5"/>
            <p:cNvSpPr/>
            <p:nvPr/>
          </p:nvSpPr>
          <p:spPr>
            <a:xfrm>
              <a:off x="2286000" y="1307754"/>
              <a:ext cx="4572000" cy="548640"/>
            </a:xfrm>
            <a:prstGeom prst="rect">
              <a:avLst/>
            </a:prstGeom>
            <a:solidFill>
              <a:srgbClr val="0F254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2286000" y="1307754"/>
              <a:ext cx="45720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E8F1E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VT = (C x deltaP) x (1 - e^(-Ti/RC))</a:t>
              </a:r>
              <a:endParaRPr lang="en-US" sz="1500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5325EC-CB32-F2BE-A18D-259689DEB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287684"/>
              </p:ext>
            </p:extLst>
          </p:nvPr>
        </p:nvGraphicFramePr>
        <p:xfrm>
          <a:off x="203842" y="1914688"/>
          <a:ext cx="8729766" cy="26984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26582">
                  <a:extLst>
                    <a:ext uri="{9D8B030D-6E8A-4147-A177-3AD203B41FA5}">
                      <a16:colId xmlns:a16="http://schemas.microsoft.com/office/drawing/2014/main" val="3059301343"/>
                    </a:ext>
                  </a:extLst>
                </a:gridCol>
                <a:gridCol w="1233864">
                  <a:extLst>
                    <a:ext uri="{9D8B030D-6E8A-4147-A177-3AD203B41FA5}">
                      <a16:colId xmlns:a16="http://schemas.microsoft.com/office/drawing/2014/main" val="2407192819"/>
                    </a:ext>
                  </a:extLst>
                </a:gridCol>
                <a:gridCol w="1233864">
                  <a:extLst>
                    <a:ext uri="{9D8B030D-6E8A-4147-A177-3AD203B41FA5}">
                      <a16:colId xmlns:a16="http://schemas.microsoft.com/office/drawing/2014/main" val="4018396706"/>
                    </a:ext>
                  </a:extLst>
                </a:gridCol>
                <a:gridCol w="1233864">
                  <a:extLst>
                    <a:ext uri="{9D8B030D-6E8A-4147-A177-3AD203B41FA5}">
                      <a16:colId xmlns:a16="http://schemas.microsoft.com/office/drawing/2014/main" val="1417459785"/>
                    </a:ext>
                  </a:extLst>
                </a:gridCol>
                <a:gridCol w="1233864">
                  <a:extLst>
                    <a:ext uri="{9D8B030D-6E8A-4147-A177-3AD203B41FA5}">
                      <a16:colId xmlns:a16="http://schemas.microsoft.com/office/drawing/2014/main" val="2327272397"/>
                    </a:ext>
                  </a:extLst>
                </a:gridCol>
                <a:gridCol w="1233864">
                  <a:extLst>
                    <a:ext uri="{9D8B030D-6E8A-4147-A177-3AD203B41FA5}">
                      <a16:colId xmlns:a16="http://schemas.microsoft.com/office/drawing/2014/main" val="138351070"/>
                    </a:ext>
                  </a:extLst>
                </a:gridCol>
                <a:gridCol w="1233864">
                  <a:extLst>
                    <a:ext uri="{9D8B030D-6E8A-4147-A177-3AD203B41FA5}">
                      <a16:colId xmlns:a16="http://schemas.microsoft.com/office/drawing/2014/main" val="3278953034"/>
                    </a:ext>
                  </a:extLst>
                </a:gridCol>
              </a:tblGrid>
              <a:tr h="586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Rate / Freq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Cycle time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Ti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Ti/RC (no. of τ)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e^(−Ti/RC)</a:t>
                      </a:r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1 − e^(−Ti/RC)</a:t>
                      </a:r>
                      <a:endParaRPr lang="en-IN" sz="1600" dirty="0"/>
                    </a:p>
                  </a:txBody>
                  <a:tcPr anchor="ctr"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039581"/>
                  </a:ext>
                </a:extLst>
              </a:tr>
              <a:tr h="351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Conventional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40 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1500 </a:t>
                      </a:r>
                      <a:r>
                        <a:rPr lang="en-IN" sz="1600" dirty="0" err="1"/>
                        <a:t>ms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500 </a:t>
                      </a:r>
                      <a:r>
                        <a:rPr lang="en-IN" sz="1600" dirty="0" err="1"/>
                        <a:t>ms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~0.00005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≈ 1.00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17510"/>
                  </a:ext>
                </a:extLst>
              </a:tr>
              <a:tr h="351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67 </a:t>
                      </a:r>
                      <a:r>
                        <a:rPr lang="en-IN" sz="1600" dirty="0" err="1"/>
                        <a:t>ms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0.264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0.74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406427"/>
                  </a:ext>
                </a:extLst>
              </a:tr>
              <a:tr h="351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8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125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42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0.435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0.57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717288"/>
                  </a:ext>
                </a:extLst>
              </a:tr>
              <a:tr h="351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10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100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33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0.513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0.49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527342"/>
                  </a:ext>
                </a:extLst>
              </a:tr>
              <a:tr h="351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12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83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28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0.574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0.43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572566"/>
                  </a:ext>
                </a:extLst>
              </a:tr>
              <a:tr h="351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15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67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22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0.641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0.36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00035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47748-2776-E21E-3000-AE46DBA3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216CB2-44F0-9D9B-E6CF-2D714DBF740B}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28DA27-5363-C91D-E065-D40DCE65F573}"/>
              </a:ext>
            </a:extLst>
          </p:cNvPr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E52189-D716-3C7D-4B51-48F3F3AEC91E}"/>
              </a:ext>
            </a:extLst>
          </p:cNvPr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41B87F-9D7C-83F5-8A7A-D650C15DDB39}"/>
              </a:ext>
            </a:extLst>
          </p:cNvPr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540D7E-338F-194A-9088-E9B5FEF464FB}"/>
              </a:ext>
            </a:extLst>
          </p:cNvPr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the delivered tidal volume?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EBCE73-1C9F-4E96-AA8B-D3F4C3BA1598}"/>
              </a:ext>
            </a:extLst>
          </p:cNvPr>
          <p:cNvSpPr/>
          <p:nvPr/>
        </p:nvSpPr>
        <p:spPr>
          <a:xfrm>
            <a:off x="502920" y="1417320"/>
            <a:ext cx="4572000" cy="548640"/>
          </a:xfrm>
          <a:prstGeom prst="rect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135E24-A4F7-4340-1AEE-4EF14A20BD12}"/>
              </a:ext>
            </a:extLst>
          </p:cNvPr>
          <p:cNvSpPr/>
          <p:nvPr/>
        </p:nvSpPr>
        <p:spPr>
          <a:xfrm>
            <a:off x="502920" y="1417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 = (C x deltaP) x (1 - e^(-Ti/RC))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F54984-E9F3-A1B4-4B9A-8F69201FDE60}"/>
              </a:ext>
            </a:extLst>
          </p:cNvPr>
          <p:cNvSpPr/>
          <p:nvPr/>
        </p:nvSpPr>
        <p:spPr>
          <a:xfrm>
            <a:off x="502920" y="214884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(max VT) = compliance x amplitude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plateau = the time constant (R x C)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VT = how much of the plateau the available Ti reaches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principles as pressure-limited conventional ventilation</a:t>
            </a:r>
            <a:endParaRPr lang="en-US" dirty="0"/>
          </a:p>
        </p:txBody>
      </p:sp>
      <p:pic>
        <p:nvPicPr>
          <p:cNvPr id="10" name="Image 0" descr="/sessions/youthful-gifted-mccarthy/mnt/HFV/deck_assets/pptx_figs/g9_vt_plateau.png">
            <a:extLst>
              <a:ext uri="{FF2B5EF4-FFF2-40B4-BE49-F238E27FC236}">
                <a16:creationId xmlns:a16="http://schemas.microsoft.com/office/drawing/2014/main" id="{8CB87F66-F900-7233-6711-57ACD9CB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554480"/>
            <a:ext cx="3429000" cy="237744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A60EFB3C-80EE-5AAA-AE46-0F942B53B163}"/>
              </a:ext>
            </a:extLst>
          </p:cNvPr>
          <p:cNvSpPr/>
          <p:nvPr/>
        </p:nvSpPr>
        <p:spPr>
          <a:xfrm>
            <a:off x="5120640" y="3950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Ti far exceeds the time constant, more time adds no VT.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712442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amplitude, frequency, I:E and mechanics move VT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0_vt_fr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4114800" cy="242316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CC71DA8-0F5E-F74A-5150-0824DF681008}"/>
              </a:ext>
            </a:extLst>
          </p:cNvPr>
          <p:cNvGrpSpPr/>
          <p:nvPr/>
        </p:nvGrpSpPr>
        <p:grpSpPr>
          <a:xfrm>
            <a:off x="4754880" y="1463040"/>
            <a:ext cx="3977640" cy="749808"/>
            <a:chOff x="4754880" y="1463040"/>
            <a:chExt cx="3977640" cy="749808"/>
          </a:xfrm>
        </p:grpSpPr>
        <p:sp>
          <p:nvSpPr>
            <p:cNvPr id="8" name="Shape 5"/>
            <p:cNvSpPr/>
            <p:nvPr/>
          </p:nvSpPr>
          <p:spPr>
            <a:xfrm>
              <a:off x="4754880" y="1463040"/>
              <a:ext cx="3977640" cy="749808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3600"/>
            </a:p>
          </p:txBody>
        </p:sp>
        <p:sp>
          <p:nvSpPr>
            <p:cNvPr id="9" name="Shape 6"/>
            <p:cNvSpPr/>
            <p:nvPr/>
          </p:nvSpPr>
          <p:spPr>
            <a:xfrm>
              <a:off x="4754880" y="1463040"/>
              <a:ext cx="64008" cy="749808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 sz="3600"/>
            </a:p>
          </p:txBody>
        </p:sp>
        <p:sp>
          <p:nvSpPr>
            <p:cNvPr id="10" name="Text 7"/>
            <p:cNvSpPr/>
            <p:nvPr/>
          </p:nvSpPr>
          <p:spPr>
            <a:xfrm>
              <a:off x="4901184" y="1517904"/>
              <a:ext cx="37033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Amplitude:  </a:t>
              </a: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Higher delta P &gt;&gt; rise in VT.</a:t>
              </a:r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62C90A-AFCB-F2C8-02D4-83FB0A2122E0}"/>
              </a:ext>
            </a:extLst>
          </p:cNvPr>
          <p:cNvGrpSpPr/>
          <p:nvPr/>
        </p:nvGrpSpPr>
        <p:grpSpPr>
          <a:xfrm>
            <a:off x="4754880" y="2267712"/>
            <a:ext cx="3977640" cy="749808"/>
            <a:chOff x="4754880" y="2267712"/>
            <a:chExt cx="3977640" cy="749808"/>
          </a:xfrm>
        </p:grpSpPr>
        <p:sp>
          <p:nvSpPr>
            <p:cNvPr id="11" name="Shape 8"/>
            <p:cNvSpPr/>
            <p:nvPr/>
          </p:nvSpPr>
          <p:spPr>
            <a:xfrm>
              <a:off x="4754880" y="2267712"/>
              <a:ext cx="3977640" cy="749808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3600"/>
            </a:p>
          </p:txBody>
        </p:sp>
        <p:sp>
          <p:nvSpPr>
            <p:cNvPr id="12" name="Shape 9"/>
            <p:cNvSpPr/>
            <p:nvPr/>
          </p:nvSpPr>
          <p:spPr>
            <a:xfrm>
              <a:off x="4754880" y="2267712"/>
              <a:ext cx="64008" cy="749808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 sz="3600"/>
            </a:p>
          </p:txBody>
        </p:sp>
        <p:sp>
          <p:nvSpPr>
            <p:cNvPr id="13" name="Text 10"/>
            <p:cNvSpPr/>
            <p:nvPr/>
          </p:nvSpPr>
          <p:spPr>
            <a:xfrm>
              <a:off x="4901184" y="2322576"/>
              <a:ext cx="37033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Frequency:  </a:t>
              </a: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Higher f shortens Ti &gt;&gt; fall in VT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35B107-86DD-3AF6-EA1A-A52B023B42F6}"/>
              </a:ext>
            </a:extLst>
          </p:cNvPr>
          <p:cNvGrpSpPr/>
          <p:nvPr/>
        </p:nvGrpSpPr>
        <p:grpSpPr>
          <a:xfrm>
            <a:off x="4754880" y="3072384"/>
            <a:ext cx="3977640" cy="749808"/>
            <a:chOff x="4754880" y="3072384"/>
            <a:chExt cx="3977640" cy="749808"/>
          </a:xfrm>
        </p:grpSpPr>
        <p:sp>
          <p:nvSpPr>
            <p:cNvPr id="14" name="Shape 11"/>
            <p:cNvSpPr/>
            <p:nvPr/>
          </p:nvSpPr>
          <p:spPr>
            <a:xfrm>
              <a:off x="4754880" y="3072384"/>
              <a:ext cx="3977640" cy="749808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3600"/>
            </a:p>
          </p:txBody>
        </p:sp>
        <p:sp>
          <p:nvSpPr>
            <p:cNvPr id="15" name="Shape 12"/>
            <p:cNvSpPr/>
            <p:nvPr/>
          </p:nvSpPr>
          <p:spPr>
            <a:xfrm>
              <a:off x="4754880" y="3072384"/>
              <a:ext cx="64008" cy="749808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IN" sz="3600"/>
            </a:p>
          </p:txBody>
        </p:sp>
        <p:sp>
          <p:nvSpPr>
            <p:cNvPr id="16" name="Text 13"/>
            <p:cNvSpPr/>
            <p:nvPr/>
          </p:nvSpPr>
          <p:spPr>
            <a:xfrm>
              <a:off x="4901184" y="3127248"/>
              <a:ext cx="37033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I:E ratio:  </a:t>
              </a:r>
              <a:r>
                <a:rPr lang="en-US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1:2 to 1:1 lengthens Ti and raises VT; effect largest at high f.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INSPIRATORY:EXPIRATORY RATIO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I:E shapes the pressure waveform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023360" cy="310896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64008" cy="31089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I:E 1:1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and trough are equidistant from MAP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intrapulmonary pressure stays closest to set MAP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a hybrid oscillator is underpowered for a small baby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023360" cy="310896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64008" cy="310896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55464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I:E 1:2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55464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sits about half as far below MAP, but lasts twice as long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inspiratory deltaP is needed for the same VT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trapping is not a real concern when expiration is active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DISTENDING PRESSURE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is set at the machine, the lung sees less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1_mip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429768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83480" y="14630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HFOV, mean intrapulmonary pressure (MIP) differs from set MAP and cannot be measured directly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MIP &lt; MAP; the drop grows with higher frequency and smaller ETT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Resistive drop: Pres = k1 x flow + k2 x flow squared</a:t>
            </a:r>
            <a:endParaRPr lang="en-US" sz="1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991484-5CB0-7164-FAEA-91AE22BA6DE9}"/>
              </a:ext>
            </a:extLst>
          </p:cNvPr>
          <p:cNvGrpSpPr/>
          <p:nvPr/>
        </p:nvGrpSpPr>
        <p:grpSpPr>
          <a:xfrm>
            <a:off x="4983480" y="3246120"/>
            <a:ext cx="3749040" cy="1325880"/>
            <a:chOff x="4983480" y="3246120"/>
            <a:chExt cx="3749040" cy="1325880"/>
          </a:xfrm>
        </p:grpSpPr>
        <p:sp>
          <p:nvSpPr>
            <p:cNvPr id="9" name="Shape 6"/>
            <p:cNvSpPr/>
            <p:nvPr/>
          </p:nvSpPr>
          <p:spPr>
            <a:xfrm>
              <a:off x="4983480" y="3246120"/>
              <a:ext cx="3749040" cy="132588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Shape 7"/>
            <p:cNvSpPr/>
            <p:nvPr/>
          </p:nvSpPr>
          <p:spPr>
            <a:xfrm>
              <a:off x="4983480" y="3246120"/>
              <a:ext cx="64008" cy="132588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8"/>
            <p:cNvSpPr/>
            <p:nvPr/>
          </p:nvSpPr>
          <p:spPr>
            <a:xfrm>
              <a:off x="5148072" y="3310128"/>
              <a:ext cx="3438144" cy="1197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Bedside:  </a:t>
              </a:r>
              <a:r>
                <a:rPr lang="en-US" sz="1600" dirty="0">
                  <a:solidFill>
                    <a:srgbClr val="2843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switching CV to HFOV at I:E 1:2, set MAP 2-3 cmH2O ABOVE the CV MAP to reach the same distending pressure; at 1:1 set it EQUAL.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VOLUME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maneuver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2_pv_hystere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2062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OPEN-LUNG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recruitment of the atelectatic lung</a:t>
            </a:r>
            <a:endParaRPr lang="en-US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2A2AC9-B36A-C87F-9F36-71096C9FBDB9}"/>
              </a:ext>
            </a:extLst>
          </p:cNvPr>
          <p:cNvGrpSpPr/>
          <p:nvPr/>
        </p:nvGrpSpPr>
        <p:grpSpPr>
          <a:xfrm>
            <a:off x="502920" y="1417320"/>
            <a:ext cx="4023360" cy="868680"/>
            <a:chOff x="502920" y="1417320"/>
            <a:chExt cx="4023360" cy="868680"/>
          </a:xfrm>
        </p:grpSpPr>
        <p:sp>
          <p:nvSpPr>
            <p:cNvPr id="7" name="Shape 5"/>
            <p:cNvSpPr/>
            <p:nvPr/>
          </p:nvSpPr>
          <p:spPr>
            <a:xfrm>
              <a:off x="502920" y="1463040"/>
              <a:ext cx="457200" cy="457200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502920" y="146304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69848" y="1417320"/>
              <a:ext cx="3456432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Start MAP 6-8 cm H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O; 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FiO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for SpO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90-95%</a:t>
              </a:r>
              <a:endParaRPr lang="en-US" sz="16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FF585A-C1D5-9FDC-22DF-BC87EF8D13DC}"/>
              </a:ext>
            </a:extLst>
          </p:cNvPr>
          <p:cNvGrpSpPr/>
          <p:nvPr/>
        </p:nvGrpSpPr>
        <p:grpSpPr>
          <a:xfrm>
            <a:off x="502920" y="2432304"/>
            <a:ext cx="4023360" cy="868680"/>
            <a:chOff x="502920" y="2432304"/>
            <a:chExt cx="4023360" cy="868680"/>
          </a:xfrm>
        </p:grpSpPr>
        <p:sp>
          <p:nvSpPr>
            <p:cNvPr id="10" name="Shape 8"/>
            <p:cNvSpPr/>
            <p:nvPr/>
          </p:nvSpPr>
          <p:spPr>
            <a:xfrm>
              <a:off x="502920" y="2478024"/>
              <a:ext cx="457200" cy="457200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502920" y="247802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69848" y="2432304"/>
              <a:ext cx="3456432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Raise MAP 1-2 cm H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every 2-3 min; wean FiO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in steps of 0.05-0.10</a:t>
              </a:r>
              <a:endParaRPr lang="en-US" sz="16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891D23B-5706-2873-16B0-E9DE6A318EEE}"/>
              </a:ext>
            </a:extLst>
          </p:cNvPr>
          <p:cNvGrpSpPr/>
          <p:nvPr/>
        </p:nvGrpSpPr>
        <p:grpSpPr>
          <a:xfrm>
            <a:off x="502920" y="3447288"/>
            <a:ext cx="4023360" cy="868680"/>
            <a:chOff x="502920" y="3447288"/>
            <a:chExt cx="4023360" cy="868680"/>
          </a:xfrm>
        </p:grpSpPr>
        <p:sp>
          <p:nvSpPr>
            <p:cNvPr id="13" name="Shape 11"/>
            <p:cNvSpPr/>
            <p:nvPr/>
          </p:nvSpPr>
          <p:spPr>
            <a:xfrm>
              <a:off x="502920" y="3493008"/>
              <a:ext cx="457200" cy="457200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02920" y="34930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069848" y="3447288"/>
              <a:ext cx="3456432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Stop when FiO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&lt; 0.25 (or no further FiO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fall with more MAP) = opening pressure</a:t>
              </a:r>
              <a:endParaRPr lang="en-US" sz="16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6C84D20-8BDA-9FDA-B1FD-69A4FEB82D48}"/>
              </a:ext>
            </a:extLst>
          </p:cNvPr>
          <p:cNvGrpSpPr/>
          <p:nvPr/>
        </p:nvGrpSpPr>
        <p:grpSpPr>
          <a:xfrm>
            <a:off x="4709160" y="1417320"/>
            <a:ext cx="4023360" cy="868680"/>
            <a:chOff x="4709160" y="1417320"/>
            <a:chExt cx="4023360" cy="868680"/>
          </a:xfrm>
        </p:grpSpPr>
        <p:sp>
          <p:nvSpPr>
            <p:cNvPr id="16" name="Shape 14"/>
            <p:cNvSpPr/>
            <p:nvPr/>
          </p:nvSpPr>
          <p:spPr>
            <a:xfrm>
              <a:off x="4709160" y="1463040"/>
              <a:ext cx="457200" cy="457200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/>
            <p:cNvSpPr/>
            <p:nvPr/>
          </p:nvSpPr>
          <p:spPr>
            <a:xfrm>
              <a:off x="4709160" y="146304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276088" y="1417320"/>
              <a:ext cx="3456432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Decrease MAP 1-2 cmH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every 2-3 min until SpO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falls = closing pressure</a:t>
              </a:r>
              <a:endParaRPr lang="en-US" sz="16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4D2C705-18C9-9744-E658-D6E581CC21A4}"/>
              </a:ext>
            </a:extLst>
          </p:cNvPr>
          <p:cNvGrpSpPr/>
          <p:nvPr/>
        </p:nvGrpSpPr>
        <p:grpSpPr>
          <a:xfrm>
            <a:off x="4709160" y="2432304"/>
            <a:ext cx="4023360" cy="868680"/>
            <a:chOff x="4709160" y="2432304"/>
            <a:chExt cx="4023360" cy="868680"/>
          </a:xfrm>
        </p:grpSpPr>
        <p:sp>
          <p:nvSpPr>
            <p:cNvPr id="19" name="Shape 17"/>
            <p:cNvSpPr/>
            <p:nvPr/>
          </p:nvSpPr>
          <p:spPr>
            <a:xfrm>
              <a:off x="4709160" y="2478024"/>
              <a:ext cx="457200" cy="457200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 18"/>
            <p:cNvSpPr/>
            <p:nvPr/>
          </p:nvSpPr>
          <p:spPr>
            <a:xfrm>
              <a:off x="4709160" y="247802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276088" y="2432304"/>
              <a:ext cx="3456432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Re-recruit briefly to opening pressure, then set MAP 2 cm H</a:t>
              </a:r>
              <a:r>
                <a:rPr lang="en-US" sz="1600" baseline="-250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above closing pressure</a:t>
              </a:r>
              <a:endParaRPr lang="en-US" sz="16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0A6D560-589E-95D1-3F1F-59ACAAE51C3F}"/>
              </a:ext>
            </a:extLst>
          </p:cNvPr>
          <p:cNvGrpSpPr/>
          <p:nvPr/>
        </p:nvGrpSpPr>
        <p:grpSpPr>
          <a:xfrm>
            <a:off x="4709160" y="3447288"/>
            <a:ext cx="4023360" cy="868680"/>
            <a:chOff x="4709160" y="3447288"/>
            <a:chExt cx="4023360" cy="868680"/>
          </a:xfrm>
        </p:grpSpPr>
        <p:sp>
          <p:nvSpPr>
            <p:cNvPr id="22" name="Shape 20"/>
            <p:cNvSpPr/>
            <p:nvPr/>
          </p:nvSpPr>
          <p:spPr>
            <a:xfrm>
              <a:off x="4709160" y="3493008"/>
              <a:ext cx="457200" cy="457200"/>
            </a:xfrm>
            <a:prstGeom prst="ellipse">
              <a:avLst/>
            </a:prstGeom>
            <a:solidFill>
              <a:srgbClr val="0E749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21"/>
            <p:cNvSpPr/>
            <p:nvPr/>
          </p:nvSpPr>
          <p:spPr>
            <a:xfrm>
              <a:off x="4709160" y="34930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276088" y="3447288"/>
              <a:ext cx="3456432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Give surfactant / re-image as indicated, then continue gentle weaning</a:t>
              </a:r>
              <a:endParaRPr lang="en-US" sz="1600" dirty="0"/>
            </a:p>
          </p:txBody>
        </p:sp>
      </p:grpSp>
      <p:sp>
        <p:nvSpPr>
          <p:cNvPr id="25" name="Shape 23"/>
          <p:cNvSpPr/>
          <p:nvPr/>
        </p:nvSpPr>
        <p:spPr>
          <a:xfrm>
            <a:off x="502920" y="4160520"/>
            <a:ext cx="8229600" cy="548640"/>
          </a:xfrm>
          <a:prstGeom prst="rect">
            <a:avLst/>
          </a:prstGeom>
          <a:solidFill>
            <a:srgbClr val="FFF8EF"/>
          </a:solidFill>
          <a:ln w="12700">
            <a:solidFill>
              <a:srgbClr val="F1D9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64008" cy="5486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7512" y="4224528"/>
            <a:ext cx="7918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600" dirty="0">
                <a:solidFill>
                  <a:srgbClr val="7A5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lowest distending pressure that keeps the lung open on the deflation limb. 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58A70-27EA-4FE6-6D97-59FA57A7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A8C3D6-58BC-E7E4-25BB-3C0EB1F5BB9C}"/>
              </a:ext>
            </a:extLst>
          </p:cNvPr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D97AE4-D159-045B-BAEC-2F8743C25F47}"/>
              </a:ext>
            </a:extLst>
          </p:cNvPr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E071EB-62A0-6175-C5CD-23414E07BC16}"/>
              </a:ext>
            </a:extLst>
          </p:cNvPr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0AEA7A-DAF8-7595-281D-F6847D7B6131}"/>
              </a:ext>
            </a:extLst>
          </p:cNvPr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VOLUME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1FA8CA-C94F-D02E-BE99-5002C2889646}"/>
              </a:ext>
            </a:extLst>
          </p:cNvPr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maneuver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2_pv_hysteresis.png">
            <a:extLst>
              <a:ext uri="{FF2B5EF4-FFF2-40B4-BE49-F238E27FC236}">
                <a16:creationId xmlns:a16="http://schemas.microsoft.com/office/drawing/2014/main" id="{231ECA4F-B4E1-1285-F474-DD018BD7D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206240" cy="27432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AED89C3-89DC-7288-EE91-AC15A6887984}"/>
              </a:ext>
            </a:extLst>
          </p:cNvPr>
          <p:cNvSpPr/>
          <p:nvPr/>
        </p:nvSpPr>
        <p:spPr>
          <a:xfrm>
            <a:off x="4983480" y="14630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above the opening pressure, then reduce MAP and sit on the deflation limb - hysteresis holds more volume at the same pressure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that the lung is open: FiO2 falls to 0.25-0.30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lung + permissive hypercapnia = lung-protective ventilation</a:t>
            </a:r>
            <a:endParaRPr lang="en-US" sz="16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5A03CC-1A6A-0A70-BEB1-20878A1B928E}"/>
              </a:ext>
            </a:extLst>
          </p:cNvPr>
          <p:cNvGrpSpPr/>
          <p:nvPr/>
        </p:nvGrpSpPr>
        <p:grpSpPr>
          <a:xfrm>
            <a:off x="4983479" y="3520440"/>
            <a:ext cx="4031047" cy="1092708"/>
            <a:chOff x="4983480" y="3520440"/>
            <a:chExt cx="3749040" cy="868680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6371A83E-0C7A-CEAD-0F32-3EFB68F9AC78}"/>
                </a:ext>
              </a:extLst>
            </p:cNvPr>
            <p:cNvSpPr/>
            <p:nvPr/>
          </p:nvSpPr>
          <p:spPr>
            <a:xfrm>
              <a:off x="4983480" y="3520440"/>
              <a:ext cx="3749040" cy="86868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F4D17A53-4EB8-368E-C8E3-5E2AC508A0B1}"/>
                </a:ext>
              </a:extLst>
            </p:cNvPr>
            <p:cNvSpPr/>
            <p:nvPr/>
          </p:nvSpPr>
          <p:spPr>
            <a:xfrm>
              <a:off x="4983480" y="3520440"/>
              <a:ext cx="64008" cy="86868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0024B0F0-3D4B-F9FA-7EC3-F70CFD2C5FA5}"/>
                </a:ext>
              </a:extLst>
            </p:cNvPr>
            <p:cNvSpPr/>
            <p:nvPr/>
          </p:nvSpPr>
          <p:spPr>
            <a:xfrm>
              <a:off x="5148072" y="3584448"/>
              <a:ext cx="3438144" cy="740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During recruitment  </a:t>
              </a:r>
              <a:r>
                <a:rPr lang="en-US" sz="1400" dirty="0">
                  <a:solidFill>
                    <a:srgbClr val="2843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same amplitude delivers different VT as you move along the curve - monitor VT and CO</a:t>
              </a:r>
              <a:r>
                <a:rPr lang="en-US" sz="1400" baseline="-25000" dirty="0">
                  <a:solidFill>
                    <a:srgbClr val="2843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400" dirty="0">
                  <a:solidFill>
                    <a:srgbClr val="2843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or use volume guarantee.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7458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&amp; LUNG VOLUME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IN THE SAFE ZONE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overdistension and atelectasis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3_frc_t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383280" cy="292608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ADE5602-88C1-A4D8-9362-D81CC81F0427}"/>
              </a:ext>
            </a:extLst>
          </p:cNvPr>
          <p:cNvGrpSpPr/>
          <p:nvPr/>
        </p:nvGrpSpPr>
        <p:grpSpPr>
          <a:xfrm>
            <a:off x="4114800" y="1463040"/>
            <a:ext cx="2331720" cy="2926080"/>
            <a:chOff x="4114800" y="1463040"/>
            <a:chExt cx="2331720" cy="2926080"/>
          </a:xfrm>
        </p:grpSpPr>
        <p:sp>
          <p:nvSpPr>
            <p:cNvPr id="8" name="Shape 5"/>
            <p:cNvSpPr/>
            <p:nvPr/>
          </p:nvSpPr>
          <p:spPr>
            <a:xfrm>
              <a:off x="4114800" y="1463040"/>
              <a:ext cx="2331720" cy="292608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9" name="Shape 6"/>
            <p:cNvSpPr/>
            <p:nvPr/>
          </p:nvSpPr>
          <p:spPr>
            <a:xfrm>
              <a:off x="4114800" y="1463040"/>
              <a:ext cx="64008" cy="2926080"/>
            </a:xfrm>
            <a:prstGeom prst="rect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0" name="Text 7"/>
            <p:cNvSpPr/>
            <p:nvPr/>
          </p:nvSpPr>
          <p:spPr>
            <a:xfrm>
              <a:off x="4261104" y="1554480"/>
              <a:ext cx="2057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B4530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Avoid overdistension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4261104" y="1920240"/>
              <a:ext cx="2057400" cy="237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distension &lt; 90% of TLC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Reduce MAP as compliance improves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If persistent overinflation: lower frequency or shorten I:E for fuller exhalation</a:t>
              </a:r>
              <a:endParaRPr lang="en-US" sz="14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66746AC-5C7D-818A-D795-307E0E75B13B}"/>
              </a:ext>
            </a:extLst>
          </p:cNvPr>
          <p:cNvGrpSpPr/>
          <p:nvPr/>
        </p:nvGrpSpPr>
        <p:grpSpPr>
          <a:xfrm>
            <a:off x="6583680" y="1463040"/>
            <a:ext cx="2148840" cy="2926080"/>
            <a:chOff x="6583680" y="1463040"/>
            <a:chExt cx="2148840" cy="2926080"/>
          </a:xfrm>
        </p:grpSpPr>
        <p:sp>
          <p:nvSpPr>
            <p:cNvPr id="12" name="Shape 9"/>
            <p:cNvSpPr/>
            <p:nvPr/>
          </p:nvSpPr>
          <p:spPr>
            <a:xfrm>
              <a:off x="6583680" y="1463040"/>
              <a:ext cx="2148840" cy="292608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3" name="Shape 10"/>
            <p:cNvSpPr/>
            <p:nvPr/>
          </p:nvSpPr>
          <p:spPr>
            <a:xfrm>
              <a:off x="6583680" y="1463040"/>
              <a:ext cx="64008" cy="2926080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4" name="Text 11"/>
            <p:cNvSpPr/>
            <p:nvPr/>
          </p:nvSpPr>
          <p:spPr>
            <a:xfrm>
              <a:off x="6729984" y="155448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241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Avoid atelectasis</a:t>
              </a:r>
              <a:endParaRPr lang="en-US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729984" y="1920240"/>
              <a:ext cx="1874520" cy="237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Humidify well; suction then re-recruit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Avoid over-enthusiastic MAP weaning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occasional sighs (about 1/min) in prolonged low-VT HFOV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CONVENTIONAL VENTILATION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HFV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monitoring. Note the CV deltaP and MAP. Suction first - secretions hamper HFOV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rescue at I:E 1:2, set 2-3 cmH</a:t>
            </a:r>
            <a:r>
              <a:rPr lang="en-US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above CV MAP; at 1:1 set equal. Titrate by recruitment + FiO</a:t>
            </a:r>
            <a:r>
              <a:rPr lang="en-US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baseline="-25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Amplitude: start about 1.5x the CV </a:t>
            </a:r>
            <a:r>
              <a:rPr lang="en-US" dirty="0" err="1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deltaP</a:t>
            </a: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confirm by chest wiggle or delivered VT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treating hypercapnia, drop transcutaneous CO2 gradually (2-3 mmHg/min) to protect cerebral flow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EFD624-E5EF-5125-20A6-855F82A65E86}"/>
              </a:ext>
            </a:extLst>
          </p:cNvPr>
          <p:cNvGrpSpPr/>
          <p:nvPr/>
        </p:nvGrpSpPr>
        <p:grpSpPr>
          <a:xfrm>
            <a:off x="5715000" y="1417320"/>
            <a:ext cx="3017520" cy="3154680"/>
            <a:chOff x="5715000" y="1417320"/>
            <a:chExt cx="3017520" cy="3154680"/>
          </a:xfrm>
        </p:grpSpPr>
        <p:sp>
          <p:nvSpPr>
            <p:cNvPr id="8" name="Shape 6"/>
            <p:cNvSpPr/>
            <p:nvPr/>
          </p:nvSpPr>
          <p:spPr>
            <a:xfrm>
              <a:off x="5715000" y="1417320"/>
              <a:ext cx="3017520" cy="315468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5861304" y="150876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Frequency: 8-10-12</a:t>
              </a:r>
              <a:endParaRPr lang="en-US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852160" y="1920240"/>
              <a:ext cx="2743200" cy="45720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1" name="Text 9"/>
            <p:cNvSpPr/>
            <p:nvPr/>
          </p:nvSpPr>
          <p:spPr>
            <a:xfrm>
              <a:off x="5943600" y="192024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MAS / long time constant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680960" y="1920240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 Hz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5852160" y="2487168"/>
              <a:ext cx="2743200" cy="45720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4" name="Text 12"/>
            <p:cNvSpPr/>
            <p:nvPr/>
          </p:nvSpPr>
          <p:spPr>
            <a:xfrm>
              <a:off x="5943600" y="248716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Term lung disease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680960" y="2487168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Hz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852160" y="3054096"/>
              <a:ext cx="2743200" cy="45720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7" name="Text 15"/>
            <p:cNvSpPr/>
            <p:nvPr/>
          </p:nvSpPr>
          <p:spPr>
            <a:xfrm>
              <a:off x="5943600" y="3054096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Preterm HMD (stiff)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680960" y="3054096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12-15 Hz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852160" y="3703320"/>
              <a:ext cx="2743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Aim to sit near the corner frequency.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VOLUME-TARGETED HFOV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guarantee - set the volume, not the pressure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4_dco2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11480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16459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VT for the frequency to hit DCO</a:t>
            </a:r>
            <a:r>
              <a:rPr lang="en-US" sz="16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40-60 mL</a:t>
            </a:r>
            <a:r>
              <a:rPr lang="en-US" sz="1600" baseline="30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/kg</a:t>
            </a:r>
            <a:r>
              <a:rPr lang="en-US" sz="1600" baseline="30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 (about 3.5 mL/kg at 5 Hz and 2.0 mL/kg at 15 Hz)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frequency needs larger VT for the same DCO</a:t>
            </a:r>
            <a:r>
              <a:rPr lang="en-US" sz="16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more volutrauma risk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deltaP-max about 5 cmH</a:t>
            </a:r>
            <a:r>
              <a:rPr lang="en-US" sz="16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above the deltaP that delivers the target VT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oxygenation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oxygenation is good, wean FiO</a:t>
            </a:r>
            <a:r>
              <a:rPr lang="en-US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0.25-0.30 first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reduce MAP gradually: 1-2 cmH</a:t>
            </a:r>
            <a:r>
              <a:rPr lang="en-US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every 1-4 hours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hypoxia: decide whether the lung is collapsed (raise MAP / re-recruit) or overinflated (lower MAP)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helps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7C65E5-D433-0687-BC1A-554FFBB4AA44}"/>
              </a:ext>
            </a:extLst>
          </p:cNvPr>
          <p:cNvGrpSpPr/>
          <p:nvPr/>
        </p:nvGrpSpPr>
        <p:grpSpPr>
          <a:xfrm>
            <a:off x="5897880" y="1463040"/>
            <a:ext cx="2834640" cy="1828800"/>
            <a:chOff x="5897880" y="1463040"/>
            <a:chExt cx="2834640" cy="1828800"/>
          </a:xfrm>
        </p:grpSpPr>
        <p:sp>
          <p:nvSpPr>
            <p:cNvPr id="8" name="Shape 6"/>
            <p:cNvSpPr/>
            <p:nvPr/>
          </p:nvSpPr>
          <p:spPr>
            <a:xfrm>
              <a:off x="5897880" y="1463040"/>
              <a:ext cx="2834640" cy="1828800"/>
            </a:xfrm>
            <a:prstGeom prst="rect">
              <a:avLst/>
            </a:prstGeom>
            <a:solidFill>
              <a:srgbClr val="FFF8EF"/>
            </a:solidFill>
            <a:ln w="12700">
              <a:solidFill>
                <a:srgbClr val="F1D9B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/>
            <p:cNvSpPr/>
            <p:nvPr/>
          </p:nvSpPr>
          <p:spPr>
            <a:xfrm>
              <a:off x="5897880" y="1463040"/>
              <a:ext cx="64008" cy="1828800"/>
            </a:xfrm>
            <a:prstGeom prst="rect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062472" y="1527048"/>
              <a:ext cx="2523744" cy="17007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Timing:  </a:t>
              </a: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</a:t>
              </a:r>
              <a:r>
                <a:rPr lang="en-US" baseline="-250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responds to amplitude within minutes; MAP effects on volume take longer - assess after about 15 minutes.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32C97A9-1FDF-EAA7-321A-CCDF97E27698}"/>
              </a:ext>
            </a:extLst>
          </p:cNvPr>
          <p:cNvGrpSpPr/>
          <p:nvPr/>
        </p:nvGrpSpPr>
        <p:grpSpPr>
          <a:xfrm>
            <a:off x="5897880" y="3429000"/>
            <a:ext cx="2834640" cy="1143000"/>
            <a:chOff x="5897880" y="3429000"/>
            <a:chExt cx="2834640" cy="1143000"/>
          </a:xfrm>
        </p:grpSpPr>
        <p:sp>
          <p:nvSpPr>
            <p:cNvPr id="11" name="Shape 9"/>
            <p:cNvSpPr/>
            <p:nvPr/>
          </p:nvSpPr>
          <p:spPr>
            <a:xfrm>
              <a:off x="5897880" y="3429000"/>
              <a:ext cx="2834640" cy="114300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10"/>
            <p:cNvSpPr/>
            <p:nvPr/>
          </p:nvSpPr>
          <p:spPr>
            <a:xfrm>
              <a:off x="5897880" y="3429000"/>
              <a:ext cx="64008" cy="114300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6062472" y="3493008"/>
              <a:ext cx="2523744" cy="1014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Watch haemodynamics:  </a:t>
              </a:r>
              <a:r>
                <a:rPr lang="en-US" sz="1400" dirty="0">
                  <a:solidFill>
                    <a:srgbClr val="2843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MAP can impair venous return, raise CVP and pulmonary vascular resistance.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carbon dioxide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airway clear; obstruction hamper HFOV and raises proximal pressures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</a:t>
            </a:r>
            <a:r>
              <a:rPr lang="en-US" sz="20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DCO</a:t>
            </a:r>
            <a:r>
              <a:rPr lang="en-US" sz="20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and change DCO</a:t>
            </a:r>
            <a:r>
              <a:rPr lang="en-US" sz="20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amplitude (VT), not frequency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suction, re-recruit: brief MAP bump (2-4 cm H</a:t>
            </a:r>
            <a:r>
              <a:rPr lang="en-US" sz="20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O) or 2-3 sustained inflations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Sighs aim to re-open alveoli (long Ti, low pressure ~5 cmH</a:t>
            </a:r>
            <a:r>
              <a:rPr lang="en-US" sz="20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above MAP), not to add volume</a:t>
            </a:r>
            <a:endParaRPr lang="en-US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7B3CBA-5114-5635-A140-30B19D6BD252}"/>
              </a:ext>
            </a:extLst>
          </p:cNvPr>
          <p:cNvGrpSpPr/>
          <p:nvPr/>
        </p:nvGrpSpPr>
        <p:grpSpPr>
          <a:xfrm>
            <a:off x="5897880" y="1463040"/>
            <a:ext cx="2834640" cy="3108960"/>
            <a:chOff x="5897880" y="1463040"/>
            <a:chExt cx="2834640" cy="3108960"/>
          </a:xfrm>
        </p:grpSpPr>
        <p:sp>
          <p:nvSpPr>
            <p:cNvPr id="8" name="Shape 6"/>
            <p:cNvSpPr/>
            <p:nvPr/>
          </p:nvSpPr>
          <p:spPr>
            <a:xfrm>
              <a:off x="5897880" y="1463040"/>
              <a:ext cx="2834640" cy="3108960"/>
            </a:xfrm>
            <a:prstGeom prst="rect">
              <a:avLst/>
            </a:prstGeom>
            <a:solidFill>
              <a:srgbClr val="FFF8EF"/>
            </a:solidFill>
            <a:ln w="12700">
              <a:solidFill>
                <a:srgbClr val="F1D9B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/>
            <p:cNvSpPr/>
            <p:nvPr/>
          </p:nvSpPr>
          <p:spPr>
            <a:xfrm>
              <a:off x="5897880" y="1463040"/>
              <a:ext cx="64008" cy="3108960"/>
            </a:xfrm>
            <a:prstGeom prst="rect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062472" y="1527048"/>
              <a:ext cx="2523744" cy="2980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frequency:  </a:t>
              </a:r>
            </a:p>
            <a:p>
              <a:pPr marL="0" indent="0">
                <a:buNone/>
              </a:pP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Without VG: lowering frequency raises VT and CO</a:t>
              </a:r>
              <a:r>
                <a:rPr lang="en-US" baseline="-250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clearance but increases distal pressure transmission</a:t>
              </a:r>
            </a:p>
            <a:p>
              <a:pPr marL="0" indent="0">
                <a:buNone/>
              </a:pPr>
              <a:endParaRPr lang="en-US" dirty="0">
                <a:solidFill>
                  <a:srgbClr val="7A5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With VG: lowering frequency actually DECREASES DCO</a:t>
              </a:r>
              <a:r>
                <a:rPr lang="en-US" baseline="-250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so PaCO</a:t>
              </a:r>
              <a:r>
                <a:rPr lang="en-US" baseline="-250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rises. 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Humidification &amp; weaning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023360" cy="310896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64008" cy="31089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little: viscous secretions block small airways - collapse, low compliance, more barotrauma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much: circuit condensation reduces delivered VT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right - it materially changes gas exchange on HFOV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023360" cy="310896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64008" cy="31089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55464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55464" y="192024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wean straight to non-invasive support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MAP toward NIV levels; lower amplitude so the baby breathes spontaneously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usually need not change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by disease: hours for RDS / PPHN, days to weeks for BPD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right variables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954930"/>
              </p:ext>
            </p:extLst>
          </p:nvPr>
        </p:nvGraphicFramePr>
        <p:xfrm>
          <a:off x="502920" y="1463039"/>
          <a:ext cx="5486400" cy="279337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9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monitor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exchange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SpO2, </a:t>
                      </a:r>
                      <a:r>
                        <a:rPr lang="en-US" sz="1800" dirty="0" err="1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</a:t>
                      </a:r>
                      <a:r>
                        <a:rPr lang="en-US" sz="18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/pCO2, delivered VT and VT/kg, DCO2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volume &amp; mechanics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X-ray (8th-9th posterior rib), Other dynamics if available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5260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rate, arterial BP, central venous pressure, urine output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463040"/>
            <a:ext cx="2560320" cy="1691640"/>
          </a:xfrm>
          <a:prstGeom prst="rect">
            <a:avLst/>
          </a:prstGeom>
          <a:solidFill>
            <a:srgbClr val="FFF8EF"/>
          </a:solidFill>
          <a:ln w="12700">
            <a:solidFill>
              <a:srgbClr val="F1D9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64008" cy="16916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336792" y="1527048"/>
            <a:ext cx="224942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 </a:t>
            </a:r>
            <a:r>
              <a:rPr lang="en-US" sz="1600" dirty="0">
                <a:solidFill>
                  <a:srgbClr val="7A5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trust the ventilator's displayed lung mechanics on HFOV - frequency-dependent damping makes them unreliable.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3291840"/>
            <a:ext cx="2560320" cy="128016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172200" y="3291840"/>
            <a:ext cx="64008" cy="12801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336792" y="3355848"/>
            <a:ext cx="224942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CXR target:  </a:t>
            </a:r>
            <a:r>
              <a:rPr lang="en-US" sz="1600" dirty="0">
                <a:solidFill>
                  <a:srgbClr val="28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expansion is the 8th-9th posterior rib in the mid-clavicular line.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and when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D93D7B-1518-5156-A70E-FBBBEF868D4B}"/>
              </a:ext>
            </a:extLst>
          </p:cNvPr>
          <p:cNvGrpSpPr/>
          <p:nvPr/>
        </p:nvGrpSpPr>
        <p:grpSpPr>
          <a:xfrm>
            <a:off x="502920" y="1417320"/>
            <a:ext cx="4114800" cy="3154680"/>
            <a:chOff x="502920" y="1417320"/>
            <a:chExt cx="4114800" cy="3154680"/>
          </a:xfrm>
        </p:grpSpPr>
        <p:sp>
          <p:nvSpPr>
            <p:cNvPr id="7" name="Shape 5"/>
            <p:cNvSpPr/>
            <p:nvPr/>
          </p:nvSpPr>
          <p:spPr>
            <a:xfrm>
              <a:off x="502920" y="1417320"/>
              <a:ext cx="4114800" cy="315468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1417320"/>
              <a:ext cx="64008" cy="315468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9" name="Text 7"/>
            <p:cNvSpPr/>
            <p:nvPr/>
          </p:nvSpPr>
          <p:spPr>
            <a:xfrm>
              <a:off x="649224" y="1508760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Conditions that may benefit</a:t>
              </a: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9224" y="1874520"/>
              <a:ext cx="3794760" cy="2651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Homogeneous lung disease (RDS, diffuse pneumonia) - ideal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PPHN, especially secondary to a derecruited lung; pair with iNO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Pulmonary hypoplasia / CDH physiology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Post-surgical, diaphragm-splinting conditions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Air leaks / PIE (often HFJV)</a:t>
              </a:r>
              <a:endParaRPr lang="en-US" sz="1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BC4C2B-98B2-93E8-2960-93CC34A73AC0}"/>
              </a:ext>
            </a:extLst>
          </p:cNvPr>
          <p:cNvGrpSpPr/>
          <p:nvPr/>
        </p:nvGrpSpPr>
        <p:grpSpPr>
          <a:xfrm>
            <a:off x="4800600" y="1417320"/>
            <a:ext cx="3931920" cy="1417320"/>
            <a:chOff x="4800600" y="1417320"/>
            <a:chExt cx="3931920" cy="1417320"/>
          </a:xfrm>
        </p:grpSpPr>
        <p:sp>
          <p:nvSpPr>
            <p:cNvPr id="11" name="Shape 9"/>
            <p:cNvSpPr/>
            <p:nvPr/>
          </p:nvSpPr>
          <p:spPr>
            <a:xfrm>
              <a:off x="4800600" y="1417320"/>
              <a:ext cx="3931920" cy="141732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4946904" y="1508760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Elective vs rescue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946904" y="1828800"/>
              <a:ext cx="365760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Elective/primary: chosen up front for a recruitable lung. 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Rescue: after CV fails to oxygenate/ventilate, or only at injurious settings.</a:t>
              </a:r>
              <a:endParaRPr lang="en-US" sz="1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5F0FEF-6B99-EAF4-FE7D-66D2F9325A32}"/>
              </a:ext>
            </a:extLst>
          </p:cNvPr>
          <p:cNvGrpSpPr/>
          <p:nvPr/>
        </p:nvGrpSpPr>
        <p:grpSpPr>
          <a:xfrm>
            <a:off x="4800600" y="2971800"/>
            <a:ext cx="3931920" cy="1600200"/>
            <a:chOff x="4800600" y="2971800"/>
            <a:chExt cx="3931920" cy="1600200"/>
          </a:xfrm>
        </p:grpSpPr>
        <p:sp>
          <p:nvSpPr>
            <p:cNvPr id="14" name="Shape 12"/>
            <p:cNvSpPr/>
            <p:nvPr/>
          </p:nvSpPr>
          <p:spPr>
            <a:xfrm>
              <a:off x="4800600" y="2971800"/>
              <a:ext cx="3931920" cy="1600200"/>
            </a:xfrm>
            <a:prstGeom prst="rect">
              <a:avLst/>
            </a:prstGeom>
            <a:solidFill>
              <a:srgbClr val="FFF8EF"/>
            </a:solidFill>
            <a:ln w="12700">
              <a:solidFill>
                <a:srgbClr val="F1D9B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13"/>
            <p:cNvSpPr/>
            <p:nvPr/>
          </p:nvSpPr>
          <p:spPr>
            <a:xfrm>
              <a:off x="4800600" y="2971800"/>
              <a:ext cx="64008" cy="1600200"/>
            </a:xfrm>
            <a:prstGeom prst="rect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4"/>
            <p:cNvSpPr/>
            <p:nvPr/>
          </p:nvSpPr>
          <p:spPr>
            <a:xfrm>
              <a:off x="4965192" y="3035808"/>
              <a:ext cx="3621024" cy="1472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When to start rescue:  </a:t>
              </a:r>
              <a:r>
                <a:rPr lang="en-US" sz="1600" dirty="0">
                  <a:solidFill>
                    <a:srgbClr val="7A5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firm thresholds. Judge by disease, stage, recruitable volume and the infant's vulnerability rather than a single peak-pressure number.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HFOV vs conventional ventilation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670048" cy="210312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64008" cy="210312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" y="1527048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Cools IPD meta-analysis (2010)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189738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trials, 3229 infants. No difference in death or BPD, or neurological outcome. More 'any' air leak.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6976" y="1417320"/>
            <a:ext cx="2670048" cy="210312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36976" y="1417320"/>
            <a:ext cx="64008" cy="2103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1527048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 review (2015)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189738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studies, 4096 infants. Small reduction in CLD at 36 weeks, but heterogeneous.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71032" y="1417320"/>
            <a:ext cx="2670048" cy="210312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71032" y="1417320"/>
            <a:ext cx="64008" cy="2103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17336" y="1527048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Bollen meta-regression (2007)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35624" y="189738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favoured an open-lung strategy and a lung-protective CV comparator.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229600" cy="502920"/>
          </a:xfrm>
          <a:prstGeom prst="rect">
            <a:avLst/>
          </a:prstGeom>
          <a:solidFill>
            <a:srgbClr val="FFF8EF"/>
          </a:solidFill>
          <a:ln w="12700">
            <a:solidFill>
              <a:srgbClr val="F1D9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64008" cy="5029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" y="3767328"/>
            <a:ext cx="79187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 </a:t>
            </a:r>
            <a:r>
              <a:rPr lang="en-US" sz="1400" dirty="0">
                <a:solidFill>
                  <a:srgbClr val="7A5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trial (HIFI) predates surfactant, antenatal steroids, lung-protective comparators and volume guarantee.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297680"/>
            <a:ext cx="8229600" cy="41148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4297680"/>
            <a:ext cx="64008" cy="4114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7512" y="4361688"/>
            <a:ext cx="7918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Favourable factors:  </a:t>
            </a:r>
            <a:r>
              <a:rPr lang="en-US" sz="1600" dirty="0">
                <a:solidFill>
                  <a:srgbClr val="28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HFOV (&lt;6 h), I:E 1:2, open-lung strategy, extubation to CPAP.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DISEASE-SPECIFIC HFOV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lung disease &amp; frequency choice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5_disease_fr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846320" cy="2926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44074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starting frequency ranges by condition.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0" y="1463040"/>
            <a:ext cx="3246120" cy="292608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32704" y="155448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(RDS, diffuse pneumonia)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32704" y="19659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HFOV: uniform recruitment, then hold optimal volume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(term) up to 12-15 Hz (extreme preterm)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by the stepwise algorithm; give surfactant after initial recruitment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guarantee gives auto-amplitude and auto-weaning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DISEASE-SPECIFIC HFOV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Inhomogeneous lung &amp; air leaks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023360" cy="310896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64008" cy="310896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Inhomogeneous lung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1920240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ventilate injured zones while sparing healthier ones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atelectasis: HIGHER frequency homogenises (more loss in open units, recruits atelectatic)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Air-trapping / high resistance: LOWER frequency + I:E 1:2 for full exhalation; keep MAP up to splint airways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disease - MAS shifts from resistance-type early to compliance-type later</a:t>
            </a:r>
            <a:endParaRPr 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EA4751-17FE-6D7D-B227-4F685D6C1C96}"/>
              </a:ext>
            </a:extLst>
          </p:cNvPr>
          <p:cNvGrpSpPr/>
          <p:nvPr/>
        </p:nvGrpSpPr>
        <p:grpSpPr>
          <a:xfrm>
            <a:off x="4709160" y="1463040"/>
            <a:ext cx="4023360" cy="3108960"/>
            <a:chOff x="4709160" y="1463040"/>
            <a:chExt cx="4023360" cy="3108960"/>
          </a:xfrm>
        </p:grpSpPr>
        <p:sp>
          <p:nvSpPr>
            <p:cNvPr id="11" name="Shape 9"/>
            <p:cNvSpPr/>
            <p:nvPr/>
          </p:nvSpPr>
          <p:spPr>
            <a:xfrm>
              <a:off x="4709160" y="1463040"/>
              <a:ext cx="4023360" cy="310896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10"/>
            <p:cNvSpPr/>
            <p:nvPr/>
          </p:nvSpPr>
          <p:spPr>
            <a:xfrm>
              <a:off x="4709160" y="1463040"/>
              <a:ext cx="64008" cy="3108960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4855464" y="155448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C241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Air leaks (PIE, pneumothorax)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855464" y="1920240"/>
              <a:ext cx="3703320" cy="2606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HFOV is associated with MORE air leak - be cautious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Gross leak / pneumothorax: low VT, higher frequency, no superimposed sigh breaths, lower MAP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PIE: lower frequency + short I:E to empty the lung; keep MAP just enough to stent airways</a:t>
              </a:r>
              <a:endParaRPr lang="en-US" sz="140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Continue HFOV 24-48 h after resolution to prevent recurrence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DISEASE-SPECIFIC HFOV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pulmonary hypertension (PPHN)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4023360" cy="310896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64008" cy="3108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PPHN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1920240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the circulation first: treat hypovolaemia and hypotension before HFOV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normoventilation; choose MAP that neither under- nor over-distends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guided by size; MAP rarely needs to exceed the CV value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 MAP reduction improves cardiac output - monitor CVP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023360" cy="3108960"/>
          </a:xfrm>
          <a:prstGeom prst="rect">
            <a:avLst/>
          </a:prstGeom>
          <a:solidFill>
            <a:srgbClr val="F7FAF9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64008" cy="31089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55464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PPHN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55464" y="1920240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underlying lung disease - recruiting atelectasis often transforms the picture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HFOV with inhaled nitric oxide - more effective than either alone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valuable with RDS- or MAS-associated PPHN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&amp; the one relative contraindication</a:t>
            </a:r>
            <a:endParaRPr lang="en-US" sz="24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94742C-0FC8-E9D4-3FC6-32A763D6D265}"/>
              </a:ext>
            </a:extLst>
          </p:cNvPr>
          <p:cNvGrpSpPr/>
          <p:nvPr/>
        </p:nvGrpSpPr>
        <p:grpSpPr>
          <a:xfrm>
            <a:off x="502920" y="1417320"/>
            <a:ext cx="2670048" cy="1463040"/>
            <a:chOff x="502920" y="1417320"/>
            <a:chExt cx="2670048" cy="1463040"/>
          </a:xfrm>
        </p:grpSpPr>
        <p:sp>
          <p:nvSpPr>
            <p:cNvPr id="7" name="Shape 5"/>
            <p:cNvSpPr/>
            <p:nvPr/>
          </p:nvSpPr>
          <p:spPr>
            <a:xfrm>
              <a:off x="502920" y="1417320"/>
              <a:ext cx="2670048" cy="146304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1417320"/>
              <a:ext cx="64008" cy="1463040"/>
            </a:xfrm>
            <a:prstGeom prst="rect">
              <a:avLst/>
            </a:prstGeom>
            <a:solidFill>
              <a:srgbClr val="C2410C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9" name="Text 7"/>
            <p:cNvSpPr/>
            <p:nvPr/>
          </p:nvSpPr>
          <p:spPr>
            <a:xfrm>
              <a:off x="649224" y="1508760"/>
              <a:ext cx="239572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Overinflation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9224" y="1984248"/>
              <a:ext cx="23957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most frequent complication and cause of failure - common in MAS and PIE</a:t>
              </a:r>
              <a:endParaRPr lang="en-US" sz="1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3BA0B6-3F3F-24B3-823C-3E5F5A872F89}"/>
              </a:ext>
            </a:extLst>
          </p:cNvPr>
          <p:cNvGrpSpPr/>
          <p:nvPr/>
        </p:nvGrpSpPr>
        <p:grpSpPr>
          <a:xfrm>
            <a:off x="3236976" y="1417320"/>
            <a:ext cx="2670048" cy="1463040"/>
            <a:chOff x="3236976" y="1417320"/>
            <a:chExt cx="2670048" cy="1463040"/>
          </a:xfrm>
        </p:grpSpPr>
        <p:sp>
          <p:nvSpPr>
            <p:cNvPr id="11" name="Shape 9"/>
            <p:cNvSpPr/>
            <p:nvPr/>
          </p:nvSpPr>
          <p:spPr>
            <a:xfrm>
              <a:off x="3236976" y="1417320"/>
              <a:ext cx="2670048" cy="146304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36976" y="1417320"/>
              <a:ext cx="64008" cy="1463040"/>
            </a:xfrm>
            <a:prstGeom prst="rect">
              <a:avLst/>
            </a:prstGeom>
            <a:solidFill>
              <a:srgbClr val="B45309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3" name="Text 11"/>
            <p:cNvSpPr/>
            <p:nvPr/>
          </p:nvSpPr>
          <p:spPr>
            <a:xfrm>
              <a:off x="3383280" y="1508760"/>
              <a:ext cx="239572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Necrotising tracheobronchitis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383280" y="1984248"/>
              <a:ext cx="23957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Linked to poor humidification and excessive MAP</a:t>
              </a:r>
              <a:endParaRPr lang="en-US" sz="14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0CEBA1-6690-4AF5-858E-5D794F963260}"/>
              </a:ext>
            </a:extLst>
          </p:cNvPr>
          <p:cNvGrpSpPr/>
          <p:nvPr/>
        </p:nvGrpSpPr>
        <p:grpSpPr>
          <a:xfrm>
            <a:off x="5971032" y="1417320"/>
            <a:ext cx="2670048" cy="1463040"/>
            <a:chOff x="5971032" y="1417320"/>
            <a:chExt cx="2670048" cy="1463040"/>
          </a:xfrm>
        </p:grpSpPr>
        <p:sp>
          <p:nvSpPr>
            <p:cNvPr id="15" name="Shape 13"/>
            <p:cNvSpPr/>
            <p:nvPr/>
          </p:nvSpPr>
          <p:spPr>
            <a:xfrm>
              <a:off x="5971032" y="1417320"/>
              <a:ext cx="2670048" cy="146304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6" name="Shape 14"/>
            <p:cNvSpPr/>
            <p:nvPr/>
          </p:nvSpPr>
          <p:spPr>
            <a:xfrm>
              <a:off x="5971032" y="1417320"/>
              <a:ext cx="64008" cy="1463040"/>
            </a:xfrm>
            <a:prstGeom prst="rect">
              <a:avLst/>
            </a:prstGeom>
            <a:solidFill>
              <a:srgbClr val="185FA5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7" name="Text 15"/>
            <p:cNvSpPr/>
            <p:nvPr/>
          </p:nvSpPr>
          <p:spPr>
            <a:xfrm>
              <a:off x="6117336" y="1508760"/>
              <a:ext cx="239572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Haemodynamic compromise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117336" y="1984248"/>
              <a:ext cx="23957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MAP cuts venous return / cardiac output; raises PVR</a:t>
              </a:r>
              <a:endParaRPr lang="en-US" sz="14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ADE837B-6A5A-B002-EB3D-2342EED9AB68}"/>
              </a:ext>
            </a:extLst>
          </p:cNvPr>
          <p:cNvGrpSpPr/>
          <p:nvPr/>
        </p:nvGrpSpPr>
        <p:grpSpPr>
          <a:xfrm>
            <a:off x="502920" y="2990088"/>
            <a:ext cx="2670048" cy="1463040"/>
            <a:chOff x="502920" y="2990088"/>
            <a:chExt cx="2670048" cy="1463040"/>
          </a:xfrm>
        </p:grpSpPr>
        <p:sp>
          <p:nvSpPr>
            <p:cNvPr id="19" name="Shape 17"/>
            <p:cNvSpPr/>
            <p:nvPr/>
          </p:nvSpPr>
          <p:spPr>
            <a:xfrm>
              <a:off x="502920" y="2990088"/>
              <a:ext cx="2670048" cy="146304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0" name="Shape 18"/>
            <p:cNvSpPr/>
            <p:nvPr/>
          </p:nvSpPr>
          <p:spPr>
            <a:xfrm>
              <a:off x="502920" y="2990088"/>
              <a:ext cx="64008" cy="1463040"/>
            </a:xfrm>
            <a:prstGeom prst="rect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1" name="Text 19"/>
            <p:cNvSpPr/>
            <p:nvPr/>
          </p:nvSpPr>
          <p:spPr>
            <a:xfrm>
              <a:off x="649224" y="3081528"/>
              <a:ext cx="239572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Intracranial haemorrhage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49224" y="3557016"/>
              <a:ext cx="23957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Driven by rapid PaCO2 flux - mitigate with VG / careful amplitude</a:t>
              </a:r>
              <a:endParaRPr lang="en-US" sz="14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D645829-893E-5E01-8C08-1E816BAB09CA}"/>
              </a:ext>
            </a:extLst>
          </p:cNvPr>
          <p:cNvGrpSpPr/>
          <p:nvPr/>
        </p:nvGrpSpPr>
        <p:grpSpPr>
          <a:xfrm>
            <a:off x="3236976" y="2990088"/>
            <a:ext cx="2670048" cy="1463040"/>
            <a:chOff x="3236976" y="2990088"/>
            <a:chExt cx="2670048" cy="1463040"/>
          </a:xfrm>
        </p:grpSpPr>
        <p:sp>
          <p:nvSpPr>
            <p:cNvPr id="23" name="Shape 21"/>
            <p:cNvSpPr/>
            <p:nvPr/>
          </p:nvSpPr>
          <p:spPr>
            <a:xfrm>
              <a:off x="3236976" y="2990088"/>
              <a:ext cx="2670048" cy="146304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36976" y="2990088"/>
              <a:ext cx="64008" cy="146304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5" name="Text 23"/>
            <p:cNvSpPr/>
            <p:nvPr/>
          </p:nvSpPr>
          <p:spPr>
            <a:xfrm>
              <a:off x="3383280" y="3081528"/>
              <a:ext cx="239572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Irritation &amp; secretions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383280" y="3557016"/>
              <a:ext cx="23957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Settle with permissive hypercapnia, sedation if needed; humidify, suction</a:t>
              </a:r>
              <a:endParaRPr lang="en-US" sz="14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0FEB575-7EF8-9E53-D939-73AAEEC08F7F}"/>
              </a:ext>
            </a:extLst>
          </p:cNvPr>
          <p:cNvGrpSpPr/>
          <p:nvPr/>
        </p:nvGrpSpPr>
        <p:grpSpPr>
          <a:xfrm>
            <a:off x="5971032" y="2990088"/>
            <a:ext cx="2670048" cy="1463040"/>
            <a:chOff x="5971032" y="2990088"/>
            <a:chExt cx="2670048" cy="1463040"/>
          </a:xfrm>
        </p:grpSpPr>
        <p:sp>
          <p:nvSpPr>
            <p:cNvPr id="27" name="Shape 25"/>
            <p:cNvSpPr/>
            <p:nvPr/>
          </p:nvSpPr>
          <p:spPr>
            <a:xfrm>
              <a:off x="5971032" y="2990088"/>
              <a:ext cx="2670048" cy="1463040"/>
            </a:xfrm>
            <a:prstGeom prst="rect">
              <a:avLst/>
            </a:prstGeom>
            <a:solidFill>
              <a:srgbClr val="F7FAF9"/>
            </a:solidFill>
            <a:ln w="12700">
              <a:solidFill>
                <a:srgbClr val="D9DDE2"/>
              </a:solidFill>
              <a:prstDash val="solid"/>
            </a:ln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8" name="Shape 26"/>
            <p:cNvSpPr/>
            <p:nvPr/>
          </p:nvSpPr>
          <p:spPr>
            <a:xfrm>
              <a:off x="5971032" y="2990088"/>
              <a:ext cx="64008" cy="1463040"/>
            </a:xfrm>
            <a:prstGeom prst="rect">
              <a:avLst/>
            </a:prstGeom>
            <a:solidFill>
              <a:srgbClr val="1D9E75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9" name="Text 27"/>
            <p:cNvSpPr/>
            <p:nvPr/>
          </p:nvSpPr>
          <p:spPr>
            <a:xfrm>
              <a:off x="6117336" y="3081528"/>
              <a:ext cx="239572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5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Relative contraindication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117336" y="3557016"/>
              <a:ext cx="239572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260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Acute large-airway obstruction (early MAS, haemorrhage, RSV)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FAILURE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HFOV is not working</a:t>
            </a:r>
            <a:endParaRPr lang="en-US" sz="2400" dirty="0"/>
          </a:p>
        </p:txBody>
      </p:sp>
      <p:pic>
        <p:nvPicPr>
          <p:cNvPr id="7" name="Image 0" descr="/sessions/youthful-gifted-mccarthy/mnt/HFV/deck_assets/pptx_figs/g16_failure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457200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response rates to HFOV by disease category.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257800" y="14630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usually reflects a strategy mismatched to disease or device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persistently high FiO2, oxygenation index, PaCO2 or MAP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PaCO2 or OI at 2-6 h flags likely failure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A/a ratio &lt; 0.08 at 6 h predicts need for ECMO</a:t>
            </a:r>
            <a:endParaRPr lang="en-US" sz="1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157B2E-A910-4BB1-594C-6AD525E7893B}"/>
              </a:ext>
            </a:extLst>
          </p:cNvPr>
          <p:cNvGrpSpPr/>
          <p:nvPr/>
        </p:nvGrpSpPr>
        <p:grpSpPr>
          <a:xfrm>
            <a:off x="5257800" y="3703320"/>
            <a:ext cx="3474720" cy="914400"/>
            <a:chOff x="5257800" y="3703320"/>
            <a:chExt cx="3474720" cy="914400"/>
          </a:xfrm>
        </p:grpSpPr>
        <p:sp>
          <p:nvSpPr>
            <p:cNvPr id="10" name="Shape 7"/>
            <p:cNvSpPr/>
            <p:nvPr/>
          </p:nvSpPr>
          <p:spPr>
            <a:xfrm>
              <a:off x="5257800" y="3703320"/>
              <a:ext cx="3474720" cy="914400"/>
            </a:xfrm>
            <a:prstGeom prst="rect">
              <a:avLst/>
            </a:prstGeom>
            <a:solidFill>
              <a:srgbClr val="F0F6F5"/>
            </a:solidFill>
            <a:ln w="12700">
              <a:solidFill>
                <a:srgbClr val="CFE3D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8"/>
            <p:cNvSpPr/>
            <p:nvPr/>
          </p:nvSpPr>
          <p:spPr>
            <a:xfrm>
              <a:off x="5257800" y="3703320"/>
              <a:ext cx="64008" cy="914400"/>
            </a:xfrm>
            <a:prstGeom prst="rect">
              <a:avLst/>
            </a:prstGeom>
            <a:solidFill>
              <a:srgbClr val="0F766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9"/>
            <p:cNvSpPr/>
            <p:nvPr/>
          </p:nvSpPr>
          <p:spPr>
            <a:xfrm>
              <a:off x="5422392" y="3767328"/>
              <a:ext cx="3163824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Escalate early:  </a:t>
              </a:r>
              <a:r>
                <a:rPr lang="en-US" sz="1600" dirty="0">
                  <a:solidFill>
                    <a:srgbClr val="2843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consider HFJV for inhomogeneous disease, or transfer for ECMO.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Ventilation in Neonates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carry to the bedside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77640" cy="132588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64008" cy="13258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649224" y="15087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Match the strategy to lung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" y="1965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84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Recruitable or not, homogeneous or not, compliance vs resistance - the physics tells you which dial to turn.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77640" cy="132588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64008" cy="132588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855464" y="15087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Amplitude to control CO</a:t>
            </a:r>
            <a:r>
              <a:rPr lang="en-US" sz="1600" b="1" baseline="-2500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baseline="-25000" dirty="0"/>
          </a:p>
        </p:txBody>
      </p:sp>
      <p:sp>
        <p:nvSpPr>
          <p:cNvPr id="14" name="Text 12"/>
          <p:cNvSpPr/>
          <p:nvPr/>
        </p:nvSpPr>
        <p:spPr>
          <a:xfrm>
            <a:off x="4855464" y="1965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DCO</a:t>
            </a:r>
            <a:r>
              <a:rPr lang="en-US" sz="14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 x VT squared; target 40-60.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CO</a:t>
            </a:r>
            <a:r>
              <a:rPr lang="en-US" sz="1400" baseline="-250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amplitude, not frequency.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907792"/>
            <a:ext cx="3977640" cy="132588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Shape 14"/>
          <p:cNvSpPr/>
          <p:nvPr/>
        </p:nvSpPr>
        <p:spPr>
          <a:xfrm>
            <a:off x="502920" y="2907792"/>
            <a:ext cx="64008" cy="13258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649224" y="29992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Aim near the corner frequency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" y="34564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peak carinal pressure.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 lung -&gt; higher f (8-10-12).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2907792"/>
            <a:ext cx="3977640" cy="1325880"/>
          </a:xfrm>
          <a:prstGeom prst="rect">
            <a:avLst/>
          </a:prstGeom>
          <a:solidFill>
            <a:srgbClr val="F0F6F5"/>
          </a:solidFill>
          <a:ln w="12700">
            <a:solidFill>
              <a:srgbClr val="CFE3D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Shape 18"/>
          <p:cNvSpPr/>
          <p:nvPr/>
        </p:nvSpPr>
        <p:spPr>
          <a:xfrm>
            <a:off x="4709160" y="2907792"/>
            <a:ext cx="64008" cy="13258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1" name="Text 19"/>
          <p:cNvSpPr/>
          <p:nvPr/>
        </p:nvSpPr>
        <p:spPr>
          <a:xfrm>
            <a:off x="4855464" y="29992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MAP to recruit the lung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55464" y="34564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Recruit, ride the deflation limb, wean MAP once FiO2 &lt;= 0.30.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HFOV, used well, is gentle ventilation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3642</Words>
  <Application>Microsoft Office PowerPoint</Application>
  <PresentationFormat>On-screen Show (16:9)</PresentationFormat>
  <Paragraphs>581</Paragraphs>
  <Slides>43</Slides>
  <Notes>43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High-Frequency Ventilation in Neonates</dc:title>
  <dc:subject>PptxGenJS Presentation</dc:subject>
  <dc:creator>HFV Teaching</dc:creator>
  <cp:lastModifiedBy>Deepak Chawla</cp:lastModifiedBy>
  <cp:revision>26</cp:revision>
  <dcterms:created xsi:type="dcterms:W3CDTF">2026-06-02T03:31:23Z</dcterms:created>
  <dcterms:modified xsi:type="dcterms:W3CDTF">2026-06-06T07:01:34Z</dcterms:modified>
</cp:coreProperties>
</file>